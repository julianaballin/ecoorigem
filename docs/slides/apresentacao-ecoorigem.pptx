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Cenários</c:v>
                </c:pt>
              </c:strCache>
            </c:strRef>
          </c:tx>
          <c:spPr>
            <a:solidFill>
              <a:srgbClr val="17693D"/>
            </a:solidFill>
          </c:spPr>
          <c:cat>
            <c:strRef>
              <c:f>Sheet1!$A$2:$A$4</c:f>
              <c:strCache>
                <c:ptCount val="3"/>
                <c:pt idx="0">
                  <c:v>Operações válidas</c:v>
                </c:pt>
                <c:pt idx="1">
                  <c:v>Entradas inválidas ou sem permissão</c:v>
                </c:pt>
                <c:pt idx="2">
                  <c:v>Integridade da cadeia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</c:v>
                </c:pt>
                <c:pt idx="1">
                  <c:v>27</c:v>
                </c:pt>
                <c:pt idx="2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2DECE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7261D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Abertura, 10 segundos. Apresentar o projeto e a equipe. Sugestão de fala: 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1: 2 minutos para contexto, problema, dados e solução. Contexto: produtos da bioeconomia passam por várias organizações antes do consumidor. Fotos do Wikimedia Commons, créditos em docs/assets/produtos/CREDITOS.md. Sugestão de fala: 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Problema: os registros ficam separados em cada organização e ninguém prova qual é o verdadeiro. Objetivo: registrar cada etapa de forma verificável, com regras. Sugestão de fala: 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Dados oficiais do IBGE, PEVS 2023 (publicada em 2024): açaí extrativo com 238,9 mil toneladas e R$ 853,1 milhões, Pará com 167,6 mil toneladas (70,2%); castanha-do-pará com 35,4 mil toneladas e R$ 172,3 milhões, Amazonas liderando com 11,3 mil toneladas. Atenção: são números do extrativismo, não da produção cultivada. A frase final é a nossa conclusão, não um dado do IBGE. Sugestão de fala: 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Solução: cada etapa vira uma transação assinada, validada pelo contrato e gravada em um bloco encadeado por hash. Contraste com um banco de dados: quem administra pode alterar e apagar, e a auditoria depende do próprio dono do dado. Ressalva: a blockchain garante que o registro não muda depois de gravado, não que ele seja verdadeiro na origem. Sugestão de fala: 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2: 2 minutos, junto com o próximo slide. Mostrar o caminho de uma operação: interface, gateway com carteira, nó, contrato e cadeia. Relacionar com o modelo de DApp da Aula 01. Sugestão de fala: Fernando.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perfis, máquina de estados e regras de custódia: só o distribuidor designado confirma o recebimento. Tudo é validado antes de alterar o estado, como um revert do Solidity. Sugestão de fala: Fernando.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3: 4 minutos, feito ao vivo na máquina da equipe. Os quatro passos exigidos: 1) mostrar a blockchain local em execução (make docker-up ou make start); 2) realizar uma operação pela interface e mostrar a confirmação com hash e bloco; 3) consultar o registro e mostrar a mudança de estado do lote; 4) rejeição de operação inválida ou sem permissão, usando os cenários da aba Registrar. Se a máquina falhar, usar o vídeo docs/slides/video/demonstracao.webm. Sugestão: Juliana executa os passos 1 e 2, Fernando o passo 3 e Ana o passo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4, parte 1. 248 testes pytest, cobertura de 97%, Pylint 9.99 de 10, Bandit e pip-audit sem achados. Black Duck não foi executado por indisponibilidade da ferramenta. 48 cenários reais com resultado esperado versus obtido. Sugestão de fala: Juliana.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4, parte 2: limitações e conclusão, dentro dos 2 minutos. Ser direto sobre o que o protótipo não faz. Encerrar com os próximos passos. Depois deste slide, os quatro slides de bônus servem para perguntas. Sugestão de fala: Juliana.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Slides de bônus, usar se sobrar tempo ou nas perguntas. Resumo de tudo que foi feito além do exigido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relatório segue o padrão da UEA: capa em página inteira com logos, texto justificado, cabeçalho, rodapé e legendas nas figuras. É gerado por script (make report), o que mantém os números de testes sempre atualizados.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Laboratório de integridade da interface: adulterar sem refazer hashes, ou refazendo a prova de trabalho do bloco (detectado pela quebra de encadeamento com o bloco seguinte). O arquivo em disco não é alterado, e o botão Restaurar recarrega a cadeia.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Reprodutibilidade: um clone limpo cria o venv pelo Makefile e passa nos 248 testes. O serviço deploy do Compose garante que o contrato esteja implantado antes de a interface subir.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chart" Target="../charts/char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ca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127" y="960120"/>
            <a:ext cx="6949440" cy="25121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4114800"/>
            <a:ext cx="94484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17693D"/>
                </a:solidFill>
                <a:latin typeface="Arial"/>
              </a:rPr>
              <a:t>Da origem ao consumidor, com transparência e integridade.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4484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A6B61"/>
                </a:solidFill>
                <a:latin typeface="Arial"/>
              </a:rPr>
              <a:t>Ana Beatriz Maciel Nunes  |  Fernando Luiz da Silva Freire  |  Juliana Ballin Lima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00" b="1">
                <a:solidFill>
                  <a:srgbClr val="17261D"/>
                </a:solidFill>
                <a:latin typeface="Arial"/>
              </a:rPr>
              <a:t>A bioeconomia amazônica vive de cadeias longas.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5A6B61"/>
                </a:solidFill>
                <a:latin typeface="Arial"/>
              </a:rPr>
              <a:t>Açaí, castanha, cupuaçu e murumuru saem de comunidades extrativistas e passam por beneficiamento, transporte e distribuição até chegar ao consumidor.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>
                <a:solidFill>
                  <a:srgbClr val="17693D"/>
                </a:solidFill>
                <a:latin typeface="Arial"/>
              </a:rPr>
              <a:t>Cada etapa fica com uma organização diferente.</a:t>
            </a:r>
          </a:p>
        </p:txBody>
      </p:sp>
      <p:pic>
        <p:nvPicPr>
          <p:cNvPr id="10" name="Picture 9" descr="foto-ac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1097280"/>
            <a:ext cx="2697480" cy="2423160"/>
          </a:xfrm>
          <a:prstGeom prst="rect">
            <a:avLst/>
          </a:prstGeom>
        </p:spPr>
      </p:pic>
      <p:pic>
        <p:nvPicPr>
          <p:cNvPr id="11" name="Picture 10" descr="foto-castanh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1097280"/>
            <a:ext cx="2697480" cy="2423160"/>
          </a:xfrm>
          <a:prstGeom prst="rect">
            <a:avLst/>
          </a:prstGeom>
        </p:spPr>
      </p:pic>
      <p:pic>
        <p:nvPicPr>
          <p:cNvPr id="12" name="Picture 11" descr="foto-cupuac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3657600"/>
            <a:ext cx="2697480" cy="2423160"/>
          </a:xfrm>
          <a:prstGeom prst="rect">
            <a:avLst/>
          </a:prstGeom>
        </p:spPr>
      </p:pic>
      <p:pic>
        <p:nvPicPr>
          <p:cNvPr id="13" name="Picture 12" descr="foto-murumuru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3960" y="3657600"/>
            <a:ext cx="2697480" cy="2423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89320" y="6144768"/>
            <a:ext cx="5577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A6B61"/>
                </a:solidFill>
                <a:latin typeface="Arial"/>
              </a:rPr>
              <a:t>Fotos: Wikimedia Commons, licenças livres. Créditos em docs/assets/produtos.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PROBLEMA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200" b="1">
                <a:solidFill>
                  <a:srgbClr val="17261D"/>
                </a:solidFill>
                <a:latin typeface="Arial"/>
              </a:rPr>
              <a:t>Cada etapa da cadeia guarda o seu próprio registro.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5A6B61"/>
                </a:solidFill>
                <a:latin typeface="Arial"/>
              </a:rPr>
              <a:t>O consumidor não tem como saber qual versão é a verdadeira, e quem administra o sistema pode reescrever o passado.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OBJETIVO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17693D"/>
                </a:solidFill>
                <a:latin typeface="Arial"/>
              </a:rPr>
              <a:t>Registrar cada etapa do lote de forma verificável, com regras que impedem atalhos.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234440"/>
            <a:ext cx="24688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E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3716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61D"/>
                </a:solidFill>
                <a:latin typeface="Arial"/>
              </a:rPr>
              <a:t>Produtor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7099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B61"/>
                </a:solidFill>
                <a:latin typeface="Arial"/>
              </a:rPr>
              <a:t>registro próprio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0" y="1645920"/>
            <a:ext cx="411480" cy="0"/>
          </a:xfrm>
          <a:prstGeom prst="line">
            <a:avLst/>
          </a:prstGeom>
          <a:ln w="15875">
            <a:solidFill>
              <a:srgbClr val="5A6B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75120" y="2286000"/>
            <a:ext cx="24688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E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24231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61D"/>
                </a:solidFill>
                <a:latin typeface="Arial"/>
              </a:rPr>
              <a:t>Beneficiador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7614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B61"/>
                </a:solidFill>
                <a:latin typeface="Arial"/>
              </a:rPr>
              <a:t>registro próprio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0" y="2697480"/>
            <a:ext cx="411480" cy="0"/>
          </a:xfrm>
          <a:prstGeom prst="line">
            <a:avLst/>
          </a:prstGeom>
          <a:ln w="15875">
            <a:solidFill>
              <a:srgbClr val="5A6B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675120" y="3337560"/>
            <a:ext cx="24688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E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34747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61D"/>
                </a:solidFill>
                <a:latin typeface="Arial"/>
              </a:rPr>
              <a:t>Transportador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813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B61"/>
                </a:solidFill>
                <a:latin typeface="Arial"/>
              </a:rPr>
              <a:t>registro próprio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0" y="3749039"/>
            <a:ext cx="411480" cy="0"/>
          </a:xfrm>
          <a:prstGeom prst="line">
            <a:avLst/>
          </a:prstGeom>
          <a:ln w="15875">
            <a:solidFill>
              <a:srgbClr val="5A6B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675120" y="4389120"/>
            <a:ext cx="24688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E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452628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61D"/>
                </a:solidFill>
                <a:latin typeface="Arial"/>
              </a:rPr>
              <a:t>Distribuidor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4864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B61"/>
                </a:solidFill>
                <a:latin typeface="Arial"/>
              </a:rPr>
              <a:t>registro próprio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0" y="4800600"/>
            <a:ext cx="411480" cy="0"/>
          </a:xfrm>
          <a:prstGeom prst="line">
            <a:avLst/>
          </a:prstGeom>
          <a:ln w="15875">
            <a:solidFill>
              <a:srgbClr val="5A6B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555480" y="1645920"/>
            <a:ext cx="0" cy="3154680"/>
          </a:xfrm>
          <a:prstGeom prst="line">
            <a:avLst/>
          </a:prstGeom>
          <a:ln w="15875">
            <a:solidFill>
              <a:srgbClr val="5A6B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555480" y="3223260"/>
            <a:ext cx="365760" cy="0"/>
          </a:xfrm>
          <a:prstGeom prst="line">
            <a:avLst/>
          </a:prstGeom>
          <a:ln w="15875">
            <a:solidFill>
              <a:srgbClr val="5A6B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921240" y="2583180"/>
            <a:ext cx="1600200" cy="1280160"/>
          </a:xfrm>
          <a:prstGeom prst="roundRect">
            <a:avLst>
              <a:gd name="adj" fmla="val 10000"/>
            </a:avLst>
          </a:prstGeom>
          <a:solidFill>
            <a:srgbClr val="0B3D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21240" y="2720339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8CC63F"/>
                </a:solidFill>
                <a:latin typeface="Arial"/>
              </a:rPr>
              <a:t>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340614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Consumidor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00" b="1">
                <a:solidFill>
                  <a:srgbClr val="17261D"/>
                </a:solidFill>
                <a:latin typeface="Arial"/>
              </a:rPr>
              <a:t>Só o açaí extrativo movimentou R$ 853 milhões em um ano.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7693D"/>
                </a:solidFill>
                <a:latin typeface="Arial"/>
              </a:rPr>
              <a:t>238,9 mil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32887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B61"/>
                </a:solidFill>
                <a:latin typeface="Arial"/>
              </a:rPr>
              <a:t>de açaí extrativo colhidas no Brasil em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7693D"/>
                </a:solidFill>
                <a:latin typeface="Arial"/>
              </a:rPr>
              <a:t>R$ 853,1 milhões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B61"/>
                </a:solidFill>
                <a:latin typeface="Arial"/>
              </a:rPr>
              <a:t>valor da produção de açaí extrativo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7693D"/>
                </a:solidFill>
                <a:latin typeface="Arial"/>
              </a:rPr>
              <a:t>70,2%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1888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B61"/>
                </a:solidFill>
                <a:latin typeface="Arial"/>
              </a:rPr>
              <a:t>vêm do Pará, com 167,6 mil toneladas</a:t>
            </a:r>
          </a:p>
        </p:txBody>
      </p:sp>
      <p:pic>
        <p:nvPicPr>
          <p:cNvPr id="14" name="Picture 13" descr="foto-castanha-larg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965960"/>
            <a:ext cx="5120640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49834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17261D"/>
                </a:solidFill>
                <a:latin typeface="Arial"/>
              </a:rPr>
              <a:t>Castanha-do-pará: 35,4 mil toneladas e R$ 172,3 milhões. O Amazonas lidera, com 11,3 mil toneladas.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4924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17261D"/>
                </a:solidFill>
                <a:latin typeface="Arial"/>
              </a:rPr>
              <a:t>Quanto maior o valor, mais importa provar de onde o produto veio.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0819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A6B61"/>
                </a:solidFill>
                <a:latin typeface="Arial"/>
              </a:rPr>
              <a:t>Fonte: IBGE, Produção da Extração Vegetal e da Silvicultura (PEVS) 2023. Foto: Wikimedia Commons, CC BY-SA 4.0.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00" b="1">
                <a:solidFill>
                  <a:srgbClr val="17261D"/>
                </a:solidFill>
                <a:latin typeface="Arial"/>
              </a:rPr>
              <a:t>A solução: um histórico que ninguém reescreve sozinho.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200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E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693D"/>
                </a:solidFill>
                <a:latin typeface="Arial"/>
              </a:rPr>
              <a:t>Bloco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61D"/>
                </a:solidFill>
                <a:latin typeface="Courier New"/>
              </a:rPr>
              <a:t>hash        0000…b3f1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A6B61"/>
                </a:solidFill>
                <a:latin typeface="Courier New"/>
              </a:rPr>
              <a:t>anterior    0000…7e5a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40480" y="2761488"/>
            <a:ext cx="640080" cy="0"/>
          </a:xfrm>
          <a:prstGeom prst="line">
            <a:avLst/>
          </a:prstGeom>
          <a:ln w="25400">
            <a:solidFill>
              <a:srgbClr val="1769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80560" y="1965960"/>
            <a:ext cx="3200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E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1488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693D"/>
                </a:solidFill>
                <a:latin typeface="Arial"/>
              </a:rPr>
              <a:t>Bloco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517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61D"/>
                </a:solidFill>
                <a:latin typeface="Courier New"/>
              </a:rPr>
              <a:t>hash        0000…c4d9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175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A6B61"/>
                </a:solidFill>
                <a:latin typeface="Courier New"/>
              </a:rPr>
              <a:t>anterior    0000…b3f1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80960" y="2761488"/>
            <a:ext cx="640080" cy="0"/>
          </a:xfrm>
          <a:prstGeom prst="line">
            <a:avLst/>
          </a:prstGeom>
          <a:ln w="25400">
            <a:solidFill>
              <a:srgbClr val="1769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321040" y="1965960"/>
            <a:ext cx="3200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E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21488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693D"/>
                </a:solidFill>
                <a:latin typeface="Arial"/>
              </a:rPr>
              <a:t>Bloco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6517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61D"/>
                </a:solidFill>
                <a:latin typeface="Courier New"/>
              </a:rPr>
              <a:t>hash        0000…3a80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0175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A6B61"/>
                </a:solidFill>
                <a:latin typeface="Courier New"/>
              </a:rPr>
              <a:t>anterior    0000…c4d9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Ilustração: o hash anterior repete o hash do bloco que o precede.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343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ASSINADA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3291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7261D"/>
                </a:solidFill>
                <a:latin typeface="Arial"/>
              </a:rPr>
              <a:t>Cada operação leva a assinatura digital da carteira responsável.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343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ENCADEADA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663440"/>
            <a:ext cx="3291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7261D"/>
                </a:solidFill>
                <a:latin typeface="Arial"/>
              </a:rPr>
              <a:t>Cada bloco guarda o hash do anterior. Alterar um bloco quebra a cadeia dali em diante.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343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VALIDADA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663440"/>
            <a:ext cx="3291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7261D"/>
                </a:solidFill>
                <a:latin typeface="Arial"/>
              </a:rPr>
              <a:t>O contrato inteligente aplica perfis e a ordem das etapas antes de gravar.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A6B61"/>
                </a:solidFill>
                <a:latin typeface="Arial"/>
              </a:rPr>
              <a:t>Faz sentido porque há vários participantes que não confiam plenamente uns nos outros.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00" b="1">
                <a:solidFill>
                  <a:srgbClr val="17261D"/>
                </a:solidFill>
                <a:latin typeface="Arial"/>
              </a:rPr>
              <a:t>A carteira assina, o nó valida e o contrato decide.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37360"/>
            <a:ext cx="6858000" cy="4069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2DECE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arquitetura-sl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828800"/>
            <a:ext cx="6583680" cy="3590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1874519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NAVEGADOR E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1945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7261D"/>
                </a:solidFill>
                <a:latin typeface="Arial"/>
              </a:rPr>
              <a:t>A interface nunca fala direto com o nó. O gateway assina com a carteira ativa.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291839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NÓ DA BLOCKCHAIN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11879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7261D"/>
                </a:solidFill>
                <a:latin typeface="Arial"/>
              </a:rPr>
              <a:t>Confere assinatura, nonce e data, minera com prova de trabalho e grava o bloco.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7091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CONTRATO INTELIGENTE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02920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7261D"/>
                </a:solidFill>
                <a:latin typeface="Arial"/>
              </a:rPr>
              <a:t>Perfis, ordem das etapas e validação das entradas, em Python.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00" b="1">
                <a:solidFill>
                  <a:srgbClr val="17261D"/>
                </a:solidFill>
                <a:latin typeface="Arial"/>
              </a:rPr>
              <a:t>O contrato só deixa o lote andar em ordem.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2DECE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maquina-de-estad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737360"/>
            <a:ext cx="10607040" cy="264831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46177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QUEM PODE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7261D"/>
                </a:solidFill>
                <a:latin typeface="Arial"/>
              </a:rPr>
              <a:t>Cada etapa exige um perfil: produtor, beneficiador, transportador ou distribuidor.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6177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EM QUE ORDEM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93776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7261D"/>
                </a:solidFill>
                <a:latin typeface="Arial"/>
              </a:rPr>
              <a:t>Pular ou repetir uma etapa é rejeitado. O lote finalizado não muda mais.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6177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O QUE FICA NA CADEIA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93776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7261D"/>
                </a:solidFill>
                <a:latin typeface="Arial"/>
              </a:rPr>
              <a:t>Origem, etapas, responsáveis e o hash dos documentos. Os arquivos ficam de fora.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>
                <a:solidFill>
                  <a:srgbClr val="17261D"/>
                </a:solidFill>
                <a:latin typeface="Arial"/>
              </a:rPr>
              <a:t>Demonstração na blockchain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0515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5A6B61"/>
                </a:solidFill>
                <a:latin typeface="Arial"/>
              </a:rPr>
              <a:t>4 minutos</a:t>
            </a:r>
          </a:p>
        </p:txBody>
      </p:sp>
      <p:pic>
        <p:nvPicPr>
          <p:cNvPr id="9" name="Picture 8" descr="demo-1-pain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600200"/>
            <a:ext cx="5029200" cy="19330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60645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693D"/>
                </a:solidFill>
                <a:latin typeface="Arial"/>
              </a:rPr>
              <a:t>1  Blockchain em execução</a:t>
            </a:r>
          </a:p>
        </p:txBody>
      </p:sp>
      <p:pic>
        <p:nvPicPr>
          <p:cNvPr id="11" name="Picture 10" descr="demo-2-confirma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1600200"/>
            <a:ext cx="5029200" cy="19330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0" y="360645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693D"/>
                </a:solidFill>
                <a:latin typeface="Arial"/>
              </a:rPr>
              <a:t>2  Operação confirmada no bloco</a:t>
            </a:r>
          </a:p>
        </p:txBody>
      </p:sp>
      <p:pic>
        <p:nvPicPr>
          <p:cNvPr id="13" name="Picture 12" descr="demo-3-consul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081938"/>
            <a:ext cx="5029200" cy="19330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608818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693D"/>
                </a:solidFill>
                <a:latin typeface="Arial"/>
              </a:rPr>
              <a:t>3  Registro e estado do lote</a:t>
            </a:r>
          </a:p>
        </p:txBody>
      </p:sp>
      <p:pic>
        <p:nvPicPr>
          <p:cNvPr id="15" name="Picture 14" descr="demo-4-rejeica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0" y="4081938"/>
            <a:ext cx="5029200" cy="19330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5040" y="608818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3261E"/>
                </a:solidFill>
                <a:latin typeface="Arial"/>
              </a:rPr>
              <a:t>4  Operação sem permissão rejeitada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00" b="1">
                <a:solidFill>
                  <a:srgbClr val="17261D"/>
                </a:solidFill>
                <a:latin typeface="Arial"/>
              </a:rPr>
              <a:t>Testado no que funciona e no que deve falhar.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17693D"/>
                </a:solidFill>
                <a:latin typeface="Arial"/>
              </a:rPr>
              <a:t>248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B61"/>
                </a:solidFill>
                <a:latin typeface="Arial"/>
              </a:rPr>
              <a:t>testes automatizados aprovados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3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17693D"/>
                </a:solidFill>
                <a:latin typeface="Arial"/>
              </a:rPr>
              <a:t>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6907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B61"/>
                </a:solidFill>
                <a:latin typeface="Arial"/>
              </a:rPr>
              <a:t>de cobertura do 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17693D"/>
                </a:solidFill>
                <a:latin typeface="Arial"/>
              </a:rPr>
              <a:t>48 de 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B61"/>
                </a:solidFill>
                <a:latin typeface="Arial"/>
              </a:rPr>
              <a:t>cenários com o resultado esperado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846320" y="1874519"/>
          <a:ext cx="6675120" cy="28346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846320" y="4983480"/>
            <a:ext cx="6675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A6B61"/>
                </a:solidFill>
                <a:latin typeface="Arial"/>
              </a:rPr>
              <a:t>Toda entrada inválida ou sem permissão foi rejeitada sem criar bloco.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A6B61"/>
                </a:solidFill>
                <a:latin typeface="Arial"/>
              </a:rPr>
              <a:t>A adulteração de um bloco foi detectada, com e sem refazer a prova de trabalho.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17693D"/>
                </a:solidFill>
                <a:latin typeface="Arial"/>
              </a:rPr>
              <a:t>LIMITAÇÕES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1700" b="0">
                <a:solidFill>
                  <a:srgbClr val="17261D"/>
                </a:solidFill>
                <a:latin typeface="Arial"/>
              </a:rPr>
              <a:t>Um único nó: a validação detecta a fraude, mas não há rede para recusá-la.</a:t>
            </a:r>
          </a:p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1700" b="0">
                <a:solidFill>
                  <a:srgbClr val="17261D"/>
                </a:solidFill>
                <a:latin typeface="Arial"/>
              </a:rPr>
              <a:t>Carteiras de demonstração guardadas no servidor, sem MetaMask.</a:t>
            </a:r>
          </a:p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1700" b="0">
                <a:solidFill>
                  <a:srgbClr val="17261D"/>
                </a:solidFill>
                <a:latin typeface="Arial"/>
              </a:rPr>
              <a:t>A blockchain garante o registro, não a verdade da informação na origem.</a:t>
            </a:r>
          </a:p>
        </p:txBody>
      </p:sp>
      <p:pic>
        <p:nvPicPr>
          <p:cNvPr id="9" name="Picture 8" descr="panel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188720"/>
            <a:ext cx="5486400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2240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spc="160">
                <a:solidFill>
                  <a:srgbClr val="8CC63F"/>
                </a:solidFill>
                <a:latin typeface="Arial"/>
              </a:rPr>
              <a:t>CONCLUSÃO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Uma blockchain local em Python já sustenta a rastreabilidade do lote, do produtor ao consumidor.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343400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CFE5C5"/>
                </a:solidFill>
                <a:latin typeface="Arial"/>
              </a:rPr>
              <a:t>Próximos passos: vários nós com consenso, carteira no navegador e QR Code por lote.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7693D"/>
                </a:solidFill>
                <a:latin typeface="Arial"/>
              </a:rPr>
              <a:t>github.com/JulianaBallin/EcoOrigem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0058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769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spc="120">
                <a:solidFill>
                  <a:srgbClr val="FFFFFF"/>
                </a:solidFill>
                <a:latin typeface="Arial"/>
              </a:rPr>
              <a:t>BÔNUS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00" b="1">
                <a:solidFill>
                  <a:srgbClr val="17261D"/>
                </a:solidFill>
                <a:latin typeface="Arial"/>
              </a:rPr>
              <a:t>O que entregamos além do pedido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9BC48A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3500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61D"/>
                </a:solidFill>
                <a:latin typeface="Arial"/>
              </a:rPr>
              <a:t>Relatório técnico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77063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5A6B61"/>
                </a:solidFill>
                <a:latin typeface="Arial"/>
              </a:rPr>
              <a:t>21 páginas em DOCX e PDF, com diagramas e apêndices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317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9BC48A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61D"/>
                </a:solidFill>
                <a:latin typeface="Arial"/>
              </a:rPr>
              <a:t>Laboratório de integridade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77063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5A6B61"/>
                </a:solidFill>
                <a:latin typeface="Arial"/>
              </a:rPr>
              <a:t>Simula a adulteração e mostra a validação detectando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661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9BC48A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58444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61D"/>
                </a:solidFill>
                <a:latin typeface="Arial"/>
              </a:rPr>
              <a:t>48 cenários de teste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0507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5A6B61"/>
                </a:solidFill>
                <a:latin typeface="Arial"/>
              </a:rPr>
              <a:t>Resultado esperado e obtido, executados de verdade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9BC48A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358444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61D"/>
                </a:solidFill>
                <a:latin typeface="Arial"/>
              </a:rPr>
              <a:t>Docker e Makefile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00507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5A6B61"/>
                </a:solidFill>
                <a:latin typeface="Arial"/>
              </a:rPr>
              <a:t>Uma linha sobe nó, contrato e interface, com menu interativo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0060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9BC48A"/>
                </a:solidFill>
                <a:latin typeface="Arial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81888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61D"/>
                </a:solidFill>
                <a:latin typeface="Arial"/>
              </a:rPr>
              <a:t>Vídeo de apoio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23951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5A6B61"/>
                </a:solidFill>
                <a:latin typeface="Arial"/>
              </a:rPr>
              <a:t>Gravação da demonstração para o caso de falha técnica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80060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9BC48A"/>
                </a:solidFill>
                <a:latin typeface="Arial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81888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61D"/>
                </a:solidFill>
                <a:latin typeface="Arial"/>
              </a:rPr>
              <a:t>Documentação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523951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5A6B61"/>
                </a:solidFill>
                <a:latin typeface="Arial"/>
              </a:rPr>
              <a:t>README, referência do contrato e roteiro da apresentação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0058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769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spc="120">
                <a:solidFill>
                  <a:srgbClr val="FFFFFF"/>
                </a:solidFill>
                <a:latin typeface="Arial"/>
              </a:rPr>
              <a:t>BÔNUS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00" b="1">
                <a:solidFill>
                  <a:srgbClr val="17261D"/>
                </a:solidFill>
                <a:latin typeface="Arial"/>
              </a:rPr>
              <a:t>Um relatório técnico completo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45720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0">
                <a:solidFill>
                  <a:srgbClr val="5A6B61"/>
                </a:solidFill>
                <a:latin typeface="Arial"/>
              </a:rPr>
              <a:t>21 páginas com problema, justificativa, arquitetura, implementação, testes, limitações e conclusão.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0">
                <a:solidFill>
                  <a:srgbClr val="5A6B61"/>
                </a:solidFill>
                <a:latin typeface="Arial"/>
              </a:rPr>
              <a:t>Diagramas, tabelas de perfis e métodos, e a tabela completa dos cenários de teste no apêndice.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7693D"/>
                </a:solidFill>
                <a:latin typeface="Courier New"/>
              </a:rPr>
              <a:t>docs/relatorio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0407" y="1463040"/>
            <a:ext cx="1975104" cy="2770632"/>
          </a:xfrm>
          <a:prstGeom prst="rect">
            <a:avLst/>
          </a:prstGeom>
          <a:solidFill>
            <a:srgbClr val="D2DE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relatorio-cap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1490472"/>
            <a:ext cx="1920240" cy="2715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77840" y="43434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B61"/>
                </a:solidFill>
                <a:latin typeface="Arial"/>
              </a:rPr>
              <a:t>Capa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3527" y="1463040"/>
            <a:ext cx="1975104" cy="2770632"/>
          </a:xfrm>
          <a:prstGeom prst="rect">
            <a:avLst/>
          </a:prstGeom>
          <a:solidFill>
            <a:srgbClr val="D2DE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elatorio-arquitetu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59" y="1490472"/>
            <a:ext cx="1920240" cy="27157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80959" y="43434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B61"/>
                </a:solidFill>
                <a:latin typeface="Arial"/>
              </a:rPr>
              <a:t>Arquitetura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56648" y="1463040"/>
            <a:ext cx="1975104" cy="2770632"/>
          </a:xfrm>
          <a:prstGeom prst="rect">
            <a:avLst/>
          </a:prstGeom>
          <a:solidFill>
            <a:srgbClr val="D2DE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relatorio-cenario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80" y="1490472"/>
            <a:ext cx="1920240" cy="27157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784080" y="43434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B61"/>
                </a:solidFill>
                <a:latin typeface="Arial"/>
              </a:rPr>
              <a:t>Cenários de teste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0058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769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spc="120">
                <a:solidFill>
                  <a:srgbClr val="FFFFFF"/>
                </a:solidFill>
                <a:latin typeface="Arial"/>
              </a:rPr>
              <a:t>BÔNUS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>
                <a:solidFill>
                  <a:srgbClr val="17261D"/>
                </a:solidFill>
                <a:latin typeface="Arial"/>
              </a:rPr>
              <a:t>Alterar um dado gravado não passa despercebido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45720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0">
                <a:solidFill>
                  <a:srgbClr val="5A6B61"/>
                </a:solidFill>
                <a:latin typeface="Arial"/>
              </a:rPr>
              <a:t>Um campo de um bloco é alterado em memória.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0">
                <a:solidFill>
                  <a:srgbClr val="5A6B61"/>
                </a:solidFill>
                <a:latin typeface="Arial"/>
              </a:rPr>
              <a:t>A validação aponta o bloco e o motivo, como raiz de Merkle e assinatura divergentes.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0">
                <a:solidFill>
                  <a:srgbClr val="5A6B61"/>
                </a:solidFill>
                <a:latin typeface="Arial"/>
              </a:rPr>
              <a:t>O nó bloqueia novas operações até a cadeia ser restaurada.</a:t>
            </a:r>
          </a:p>
        </p:txBody>
      </p:sp>
      <p:pic>
        <p:nvPicPr>
          <p:cNvPr id="11" name="Picture 10" descr="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371600"/>
            <a:ext cx="5760720" cy="40505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"/>
            <a:ext cx="1440873" cy="457200"/>
          </a:xfrm>
          <a:prstGeom prst="rect">
            <a:avLst/>
          </a:prstGeom>
        </p:spPr>
      </p:pic>
      <p:pic>
        <p:nvPicPr>
          <p:cNvPr id="4" name="Picture 3" descr="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835" y="274320"/>
            <a:ext cx="1068779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Oficina de Desenvolvimento de Sistemas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A6B61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0058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769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spc="120">
                <a:solidFill>
                  <a:srgbClr val="FFFFFF"/>
                </a:solidFill>
                <a:latin typeface="Arial"/>
              </a:rPr>
              <a:t>BÔNUS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00" b="1">
                <a:solidFill>
                  <a:srgbClr val="17261D"/>
                </a:solidFill>
                <a:latin typeface="Arial"/>
              </a:rPr>
              <a:t>Execução reproduzível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5720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0">
                <a:solidFill>
                  <a:srgbClr val="5A6B61"/>
                </a:solidFill>
                <a:latin typeface="Arial"/>
              </a:rPr>
              <a:t>Docker Compose sobe o nó, implanta o contrato e inicia a interface, nessa ordem.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0">
                <a:solidFill>
                  <a:srgbClr val="5A6B61"/>
                </a:solidFill>
                <a:latin typeface="Arial"/>
              </a:rPr>
              <a:t>O Makefile cria o ambiente virtual e reúne testes, lint, cenários e documentação.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0">
                <a:solidFill>
                  <a:srgbClr val="5A6B61"/>
                </a:solidFill>
                <a:latin typeface="Arial"/>
              </a:rPr>
              <a:t>O vídeo de apoio fica em docs/slides/video.</a:t>
            </a:r>
          </a:p>
        </p:txBody>
      </p:sp>
      <p:pic>
        <p:nvPicPr>
          <p:cNvPr id="11" name="Picture 10" descr="panel-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463040"/>
            <a:ext cx="5486400" cy="3566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4652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7F0C8"/>
                </a:solidFill>
                <a:latin typeface="Courier New"/>
              </a:rPr>
              <a:t>$ make docker-up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7F0C8"/>
                </a:solidFill>
                <a:latin typeface="Courier New"/>
              </a:rPr>
              <a:t>$ make docker-seed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34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7F0C8"/>
                </a:solidFill>
                <a:latin typeface="Courier New"/>
              </a:rPr>
              <a:t>$ make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375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7F0C8"/>
                </a:solidFill>
                <a:latin typeface="Courier New"/>
              </a:rPr>
              <a:t>$ make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404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7F0C8"/>
                </a:solidFill>
                <a:latin typeface="Courier New"/>
              </a:rPr>
              <a:t>$ make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3434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7F0C8"/>
                </a:solidFill>
                <a:latin typeface="Courier New"/>
              </a:rPr>
              <a:t>$ make report slides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