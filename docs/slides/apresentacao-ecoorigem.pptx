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x="18288000" cy="10287000"/>
  <p:notesSz cx="6858000" cy="9144000"/>
  <p:embeddedFontLst>
    <p:embeddedFont>
      <p:font typeface="TOMO Trompa Pro" charset="1" panose="00000500000000000000"/>
      <p:regular r:id="rId17"/>
    </p:embeddedFont>
    <p:embeddedFont>
      <p:font typeface="Bryndan Write" charset="1" panose="02000503000000000000"/>
      <p:regular r:id="rId18"/>
    </p:embeddedFont>
    <p:embeddedFont>
      <p:font typeface="Clear Sans Bold" charset="1" panose="020B0803030202020304"/>
      <p:regular r:id="rId19"/>
    </p:embeddedFont>
    <p:embeddedFont>
      <p:font typeface="Open Sans 1" charset="1" panose="020B0606030504020204"/>
      <p:regular r:id="rId20"/>
    </p:embeddedFont>
    <p:embeddedFont>
      <p:font typeface="Open Sans 2 Bold" charset="1" panose="00000000000000000000"/>
      <p:regular r:id="rId21"/>
    </p:embeddedFont>
    <p:embeddedFont>
      <p:font typeface="Open Sans 2" charset="1" panose="00000000000000000000"/>
      <p:regular r:id="rId22"/>
    </p:embeddedFont>
    <p:embeddedFont>
      <p:font typeface="Open Sans 2 Italics" charset="1" panose="00000000000000000000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11" Target="../media/image10.png" Type="http://schemas.openxmlformats.org/officeDocument/2006/relationships/image"/><Relationship Id="rId12" Target="../media/image11.svg" Type="http://schemas.openxmlformats.org/officeDocument/2006/relationships/image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6.png" Type="http://schemas.openxmlformats.org/officeDocument/2006/relationships/image"/><Relationship Id="rId11" Target="../media/image7.svg" Type="http://schemas.openxmlformats.org/officeDocument/2006/relationships/image"/><Relationship Id="rId2" Target="../media/image12.png" Type="http://schemas.openxmlformats.org/officeDocument/2006/relationships/image"/><Relationship Id="rId3" Target="../media/image13.svg" Type="http://schemas.openxmlformats.org/officeDocument/2006/relationships/image"/><Relationship Id="rId4" Target="../media/image14.png" Type="http://schemas.openxmlformats.org/officeDocument/2006/relationships/image"/><Relationship Id="rId5" Target="../media/image15.svg" Type="http://schemas.openxmlformats.org/officeDocument/2006/relationships/image"/><Relationship Id="rId6" Target="../media/image2.png" Type="http://schemas.openxmlformats.org/officeDocument/2006/relationships/image"/><Relationship Id="rId7" Target="../media/image3.svg" Type="http://schemas.openxmlformats.org/officeDocument/2006/relationships/image"/><Relationship Id="rId8" Target="../media/image4.png" Type="http://schemas.openxmlformats.org/officeDocument/2006/relationships/image"/><Relationship Id="rId9" Target="../media/image5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6.png" Type="http://schemas.openxmlformats.org/officeDocument/2006/relationships/image"/><Relationship Id="rId11" Target="../media/image7.svg" Type="http://schemas.openxmlformats.org/officeDocument/2006/relationships/image"/><Relationship Id="rId12" Target="../media/image22.png" Type="http://schemas.openxmlformats.org/officeDocument/2006/relationships/image"/><Relationship Id="rId13" Target="../media/image23.svg" Type="http://schemas.openxmlformats.org/officeDocument/2006/relationships/image"/><Relationship Id="rId14" Target="../media/image24.png" Type="http://schemas.openxmlformats.org/officeDocument/2006/relationships/image"/><Relationship Id="rId15" Target="../media/image25.svg" Type="http://schemas.openxmlformats.org/officeDocument/2006/relationships/image"/><Relationship Id="rId16" Target="../media/image26.png" Type="http://schemas.openxmlformats.org/officeDocument/2006/relationships/image"/><Relationship Id="rId17" Target="../media/image27.svg" Type="http://schemas.openxmlformats.org/officeDocument/2006/relationships/image"/><Relationship Id="rId2" Target="../media/image16.png" Type="http://schemas.openxmlformats.org/officeDocument/2006/relationships/image"/><Relationship Id="rId3" Target="../media/image17.svg" Type="http://schemas.openxmlformats.org/officeDocument/2006/relationships/image"/><Relationship Id="rId4" Target="../media/image18.png" Type="http://schemas.openxmlformats.org/officeDocument/2006/relationships/image"/><Relationship Id="rId5" Target="../media/image19.svg" Type="http://schemas.openxmlformats.org/officeDocument/2006/relationships/image"/><Relationship Id="rId6" Target="../media/image2.png" Type="http://schemas.openxmlformats.org/officeDocument/2006/relationships/image"/><Relationship Id="rId7" Target="../media/image3.svg" Type="http://schemas.openxmlformats.org/officeDocument/2006/relationships/image"/><Relationship Id="rId8" Target="../media/image20.png" Type="http://schemas.openxmlformats.org/officeDocument/2006/relationships/image"/><Relationship Id="rId9" Target="../media/image21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8.png" Type="http://schemas.openxmlformats.org/officeDocument/2006/relationships/image"/><Relationship Id="rId3" Target="../media/image29.svg" Type="http://schemas.openxmlformats.org/officeDocument/2006/relationships/image"/><Relationship Id="rId4" Target="../media/image30.png" Type="http://schemas.openxmlformats.org/officeDocument/2006/relationships/image"/><Relationship Id="rId5" Target="../media/image31.svg" Type="http://schemas.openxmlformats.org/officeDocument/2006/relationships/image"/><Relationship Id="rId6" Target="../media/image32.png" Type="http://schemas.openxmlformats.org/officeDocument/2006/relationships/image"/><Relationship Id="rId7" Target="../media/image33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4.png" Type="http://schemas.openxmlformats.org/officeDocument/2006/relationships/image"/><Relationship Id="rId3" Target="../media/image35.svg" Type="http://schemas.openxmlformats.org/officeDocument/2006/relationships/image"/><Relationship Id="rId4" Target="../media/image36.jpeg" Type="http://schemas.openxmlformats.org/officeDocument/2006/relationships/image"/><Relationship Id="rId5" Target="../media/image37.png" Type="http://schemas.openxmlformats.org/officeDocument/2006/relationships/image"/><Relationship Id="rId6" Target="../media/image38.svg" Type="http://schemas.openxmlformats.org/officeDocument/2006/relationships/image"/><Relationship Id="rId7" Target="../media/image39.png" Type="http://schemas.openxmlformats.org/officeDocument/2006/relationships/image"/><Relationship Id="rId8" Target="../media/image40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5.png" Type="http://schemas.openxmlformats.org/officeDocument/2006/relationships/image"/><Relationship Id="rId11" Target="../media/image46.svg" Type="http://schemas.openxmlformats.org/officeDocument/2006/relationships/image"/><Relationship Id="rId12" Target="../media/image36.jpeg" Type="http://schemas.openxmlformats.org/officeDocument/2006/relationships/image"/><Relationship Id="rId2" Target="../media/image41.png" Type="http://schemas.openxmlformats.org/officeDocument/2006/relationships/image"/><Relationship Id="rId3" Target="../media/image42.svg" Type="http://schemas.openxmlformats.org/officeDocument/2006/relationships/image"/><Relationship Id="rId4" Target="../media/image4.png" Type="http://schemas.openxmlformats.org/officeDocument/2006/relationships/image"/><Relationship Id="rId5" Target="../media/image5.svg" Type="http://schemas.openxmlformats.org/officeDocument/2006/relationships/image"/><Relationship Id="rId6" Target="../media/image6.png" Type="http://schemas.openxmlformats.org/officeDocument/2006/relationships/image"/><Relationship Id="rId7" Target="../media/image7.svg" Type="http://schemas.openxmlformats.org/officeDocument/2006/relationships/image"/><Relationship Id="rId8" Target="../media/image43.png" Type="http://schemas.openxmlformats.org/officeDocument/2006/relationships/image"/><Relationship Id="rId9" Target="../media/image44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7.png" Type="http://schemas.openxmlformats.org/officeDocument/2006/relationships/image"/><Relationship Id="rId3" Target="../media/image48.svg" Type="http://schemas.openxmlformats.org/officeDocument/2006/relationships/image"/><Relationship Id="rId4" Target="../media/image49.png" Type="http://schemas.openxmlformats.org/officeDocument/2006/relationships/image"/><Relationship Id="rId5" Target="../media/image50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1.png" Type="http://schemas.openxmlformats.org/officeDocument/2006/relationships/image"/><Relationship Id="rId3" Target="../media/image52.svg" Type="http://schemas.openxmlformats.org/officeDocument/2006/relationships/image"/><Relationship Id="rId4" Target="../media/image53.png" Type="http://schemas.openxmlformats.org/officeDocument/2006/relationships/image"/><Relationship Id="rId5" Target="../media/image54.svg" Type="http://schemas.openxmlformats.org/officeDocument/2006/relationships/image"/><Relationship Id="rId6" Target="../media/image55.png" Type="http://schemas.openxmlformats.org/officeDocument/2006/relationships/image"/><Relationship Id="rId7" Target="../media/image56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7.png" Type="http://schemas.openxmlformats.org/officeDocument/2006/relationships/image"/><Relationship Id="rId3" Target="../media/image58.svg" Type="http://schemas.openxmlformats.org/officeDocument/2006/relationships/image"/><Relationship Id="rId4" Target="../media/image53.png" Type="http://schemas.openxmlformats.org/officeDocument/2006/relationships/image"/><Relationship Id="rId5" Target="../media/image54.svg" Type="http://schemas.openxmlformats.org/officeDocument/2006/relationships/image"/><Relationship Id="rId6" Target="../media/image59.png" Type="http://schemas.openxmlformats.org/officeDocument/2006/relationships/image"/><Relationship Id="rId7" Target="../media/image60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8.png" Type="http://schemas.openxmlformats.org/officeDocument/2006/relationships/image"/><Relationship Id="rId11" Target="../media/image29.svg" Type="http://schemas.openxmlformats.org/officeDocument/2006/relationships/image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Relationship Id="rId6" Target="../media/image61.png" Type="http://schemas.openxmlformats.org/officeDocument/2006/relationships/image"/><Relationship Id="rId7" Target="../media/image62.svg" Type="http://schemas.openxmlformats.org/officeDocument/2006/relationships/image"/><Relationship Id="rId8" Target="../media/image14.png" Type="http://schemas.openxmlformats.org/officeDocument/2006/relationships/image"/><Relationship Id="rId9" Target="../media/image15.sv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svg" Type="http://schemas.openxmlformats.org/officeDocument/2006/relationships/image"/><Relationship Id="rId4" Target="../media/image14.png" Type="http://schemas.openxmlformats.org/officeDocument/2006/relationships/image"/><Relationship Id="rId5" Target="../media/image15.svg" Type="http://schemas.openxmlformats.org/officeDocument/2006/relationships/image"/><Relationship Id="rId6" Target="../media/image4.png" Type="http://schemas.openxmlformats.org/officeDocument/2006/relationships/image"/><Relationship Id="rId7" Target="../media/image5.svg" Type="http://schemas.openxmlformats.org/officeDocument/2006/relationships/image"/><Relationship Id="rId8" Target="../media/image6.png" Type="http://schemas.openxmlformats.org/officeDocument/2006/relationships/image"/><Relationship Id="rId9" Target="../media/image7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07580" y="1850864"/>
            <a:ext cx="8082242" cy="5086777"/>
          </a:xfrm>
          <a:custGeom>
            <a:avLst/>
            <a:gdLst/>
            <a:ahLst/>
            <a:cxnLst/>
            <a:rect r="r" b="b" t="t" l="l"/>
            <a:pathLst>
              <a:path h="5086777" w="8082242">
                <a:moveTo>
                  <a:pt x="0" y="0"/>
                </a:moveTo>
                <a:lnTo>
                  <a:pt x="8082242" y="0"/>
                </a:lnTo>
                <a:lnTo>
                  <a:pt x="8082242" y="5086777"/>
                </a:lnTo>
                <a:lnTo>
                  <a:pt x="0" y="50867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-27856" b="-94005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5657748" y="8856660"/>
            <a:ext cx="2832074" cy="2860681"/>
          </a:xfrm>
          <a:custGeom>
            <a:avLst/>
            <a:gdLst/>
            <a:ahLst/>
            <a:cxnLst/>
            <a:rect r="r" b="b" t="t" l="l"/>
            <a:pathLst>
              <a:path h="2860681" w="2832074">
                <a:moveTo>
                  <a:pt x="0" y="0"/>
                </a:moveTo>
                <a:lnTo>
                  <a:pt x="2832074" y="0"/>
                </a:lnTo>
                <a:lnTo>
                  <a:pt x="2832074" y="2860680"/>
                </a:lnTo>
                <a:lnTo>
                  <a:pt x="0" y="286068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6036892" y="-1230245"/>
            <a:ext cx="3230032" cy="3262659"/>
          </a:xfrm>
          <a:custGeom>
            <a:avLst/>
            <a:gdLst/>
            <a:ahLst/>
            <a:cxnLst/>
            <a:rect r="r" b="b" t="t" l="l"/>
            <a:pathLst>
              <a:path h="3262659" w="3230032">
                <a:moveTo>
                  <a:pt x="0" y="0"/>
                </a:moveTo>
                <a:lnTo>
                  <a:pt x="3230032" y="0"/>
                </a:lnTo>
                <a:lnTo>
                  <a:pt x="3230032" y="3262659"/>
                </a:lnTo>
                <a:lnTo>
                  <a:pt x="0" y="326265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1274774" y="6003089"/>
            <a:ext cx="2578973" cy="2553184"/>
          </a:xfrm>
          <a:custGeom>
            <a:avLst/>
            <a:gdLst/>
            <a:ahLst/>
            <a:cxnLst/>
            <a:rect r="r" b="b" t="t" l="l"/>
            <a:pathLst>
              <a:path h="2553184" w="2578973">
                <a:moveTo>
                  <a:pt x="0" y="0"/>
                </a:moveTo>
                <a:lnTo>
                  <a:pt x="2578974" y="0"/>
                </a:lnTo>
                <a:lnTo>
                  <a:pt x="2578974" y="2553184"/>
                </a:lnTo>
                <a:lnTo>
                  <a:pt x="0" y="255318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2494145" y="2955686"/>
            <a:ext cx="1034828" cy="574329"/>
          </a:xfrm>
          <a:custGeom>
            <a:avLst/>
            <a:gdLst/>
            <a:ahLst/>
            <a:cxnLst/>
            <a:rect r="r" b="b" t="t" l="l"/>
            <a:pathLst>
              <a:path h="574329" w="1034828">
                <a:moveTo>
                  <a:pt x="0" y="0"/>
                </a:moveTo>
                <a:lnTo>
                  <a:pt x="1034828" y="0"/>
                </a:lnTo>
                <a:lnTo>
                  <a:pt x="1034828" y="574329"/>
                </a:lnTo>
                <a:lnTo>
                  <a:pt x="0" y="574329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3528973" y="2955686"/>
            <a:ext cx="2826902" cy="2869951"/>
          </a:xfrm>
          <a:custGeom>
            <a:avLst/>
            <a:gdLst/>
            <a:ahLst/>
            <a:cxnLst/>
            <a:rect r="r" b="b" t="t" l="l"/>
            <a:pathLst>
              <a:path h="2869951" w="2826902">
                <a:moveTo>
                  <a:pt x="0" y="0"/>
                </a:moveTo>
                <a:lnTo>
                  <a:pt x="2826902" y="0"/>
                </a:lnTo>
                <a:lnTo>
                  <a:pt x="2826902" y="2869951"/>
                </a:lnTo>
                <a:lnTo>
                  <a:pt x="0" y="2869951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8689183" y="4426064"/>
            <a:ext cx="9162085" cy="18855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12"/>
              </a:lnSpc>
            </a:pPr>
            <a:r>
              <a:rPr lang="en-US" sz="11008">
                <a:solidFill>
                  <a:srgbClr val="72BF97"/>
                </a:solidFill>
                <a:latin typeface="TOMO Trompa Pro"/>
                <a:ea typeface="TOMO Trompa Pro"/>
                <a:cs typeface="TOMO Trompa Pro"/>
                <a:sym typeface="TOMO Trompa Pro"/>
              </a:rPr>
              <a:t>EcoOrigem</a:t>
            </a:r>
            <a:r>
              <a:rPr lang="en-US" sz="11008">
                <a:solidFill>
                  <a:srgbClr val="72BF97"/>
                </a:solidFill>
                <a:latin typeface="TOMO Trompa Pro"/>
                <a:ea typeface="TOMO Trompa Pro"/>
                <a:cs typeface="TOMO Trompa Pro"/>
                <a:sym typeface="TOMO Trompa Pro"/>
              </a:rPr>
              <a:t> 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144000" y="6235413"/>
            <a:ext cx="7351520" cy="9065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84"/>
              </a:lnSpc>
            </a:pPr>
            <a:r>
              <a:rPr lang="en-US" sz="2560">
                <a:solidFill>
                  <a:srgbClr val="77968E"/>
                </a:solidFill>
                <a:latin typeface="Bryndan Write"/>
                <a:ea typeface="Bryndan Write"/>
                <a:cs typeface="Bryndan Write"/>
                <a:sym typeface="Bryndan Write"/>
              </a:rPr>
              <a:t>RASTREABILI</a:t>
            </a:r>
            <a:r>
              <a:rPr lang="en-US" sz="2560">
                <a:solidFill>
                  <a:srgbClr val="77968E"/>
                </a:solidFill>
                <a:latin typeface="Bryndan Write"/>
                <a:ea typeface="Bryndan Write"/>
                <a:cs typeface="Bryndan Write"/>
                <a:sym typeface="Bryndan Write"/>
              </a:rPr>
              <a:t>DADE DE PRODUTOS DA BIOECONOMIA AMAZÔNICA COM BLOCKCHAIN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0" y="8765823"/>
            <a:ext cx="5589896" cy="1244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04"/>
              </a:lnSpc>
            </a:pPr>
            <a:r>
              <a:rPr lang="en-US" b="true" sz="2360">
                <a:solidFill>
                  <a:srgbClr val="77968E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ANA B</a:t>
            </a:r>
            <a:r>
              <a:rPr lang="en-US" b="true" sz="2360">
                <a:solidFill>
                  <a:srgbClr val="77968E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EATRIZ MACIEL NUNES</a:t>
            </a:r>
          </a:p>
          <a:p>
            <a:pPr algn="ctr">
              <a:lnSpc>
                <a:spcPts val="3304"/>
              </a:lnSpc>
            </a:pPr>
            <a:r>
              <a:rPr lang="en-US" b="true" sz="2360">
                <a:solidFill>
                  <a:srgbClr val="77968E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 FERNANDO LUIZ DA SILVA FREIRE </a:t>
            </a:r>
          </a:p>
          <a:p>
            <a:pPr algn="ctr">
              <a:lnSpc>
                <a:spcPts val="3304"/>
              </a:lnSpc>
            </a:pPr>
            <a:r>
              <a:rPr lang="en-US" b="true" sz="2360">
                <a:solidFill>
                  <a:srgbClr val="77968E"/>
                </a:solidFill>
                <a:latin typeface="Clear Sans Bold"/>
                <a:ea typeface="Clear Sans Bold"/>
                <a:cs typeface="Clear Sans Bold"/>
                <a:sym typeface="Clear Sans Bold"/>
              </a:rPr>
              <a:t> JULIANA BALLIN LIMA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2BF9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2073672">
            <a:off x="196696" y="7583138"/>
            <a:ext cx="2825322" cy="3693231"/>
          </a:xfrm>
          <a:custGeom>
            <a:avLst/>
            <a:gdLst/>
            <a:ahLst/>
            <a:cxnLst/>
            <a:rect r="r" b="b" t="t" l="l"/>
            <a:pathLst>
              <a:path h="3693231" w="2825322">
                <a:moveTo>
                  <a:pt x="0" y="0"/>
                </a:moveTo>
                <a:lnTo>
                  <a:pt x="2825322" y="0"/>
                </a:lnTo>
                <a:lnTo>
                  <a:pt x="2825322" y="3693231"/>
                </a:lnTo>
                <a:lnTo>
                  <a:pt x="0" y="36932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738416" y="1782453"/>
            <a:ext cx="3926905" cy="3494945"/>
          </a:xfrm>
          <a:custGeom>
            <a:avLst/>
            <a:gdLst/>
            <a:ahLst/>
            <a:cxnLst/>
            <a:rect r="r" b="b" t="t" l="l"/>
            <a:pathLst>
              <a:path h="3494945" w="3926905">
                <a:moveTo>
                  <a:pt x="0" y="0"/>
                </a:moveTo>
                <a:lnTo>
                  <a:pt x="3926904" y="0"/>
                </a:lnTo>
                <a:lnTo>
                  <a:pt x="3926904" y="3494945"/>
                </a:lnTo>
                <a:lnTo>
                  <a:pt x="0" y="349494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5657748" y="8856660"/>
            <a:ext cx="2832074" cy="2860681"/>
          </a:xfrm>
          <a:custGeom>
            <a:avLst/>
            <a:gdLst/>
            <a:ahLst/>
            <a:cxnLst/>
            <a:rect r="r" b="b" t="t" l="l"/>
            <a:pathLst>
              <a:path h="2860681" w="2832074">
                <a:moveTo>
                  <a:pt x="0" y="0"/>
                </a:moveTo>
                <a:lnTo>
                  <a:pt x="2832074" y="0"/>
                </a:lnTo>
                <a:lnTo>
                  <a:pt x="2832074" y="2860680"/>
                </a:lnTo>
                <a:lnTo>
                  <a:pt x="0" y="286068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505830" y="8352518"/>
            <a:ext cx="3230032" cy="3262659"/>
          </a:xfrm>
          <a:custGeom>
            <a:avLst/>
            <a:gdLst/>
            <a:ahLst/>
            <a:cxnLst/>
            <a:rect r="r" b="b" t="t" l="l"/>
            <a:pathLst>
              <a:path h="3262659" w="3230032">
                <a:moveTo>
                  <a:pt x="0" y="0"/>
                </a:moveTo>
                <a:lnTo>
                  <a:pt x="3230032" y="0"/>
                </a:lnTo>
                <a:lnTo>
                  <a:pt x="3230032" y="3262659"/>
                </a:lnTo>
                <a:lnTo>
                  <a:pt x="0" y="3262659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744410" y="-1551535"/>
            <a:ext cx="2578973" cy="2553184"/>
          </a:xfrm>
          <a:custGeom>
            <a:avLst/>
            <a:gdLst/>
            <a:ahLst/>
            <a:cxnLst/>
            <a:rect r="r" b="b" t="t" l="l"/>
            <a:pathLst>
              <a:path h="2553184" w="2578973">
                <a:moveTo>
                  <a:pt x="0" y="0"/>
                </a:moveTo>
                <a:lnTo>
                  <a:pt x="2578973" y="0"/>
                </a:lnTo>
                <a:lnTo>
                  <a:pt x="2578973" y="2553184"/>
                </a:lnTo>
                <a:lnTo>
                  <a:pt x="0" y="2553184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3732062" y="2885547"/>
            <a:ext cx="11271285" cy="5466971"/>
            <a:chOff x="0" y="0"/>
            <a:chExt cx="2968569" cy="143986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968569" cy="1439861"/>
            </a:xfrm>
            <a:custGeom>
              <a:avLst/>
              <a:gdLst/>
              <a:ahLst/>
              <a:cxnLst/>
              <a:rect r="r" b="b" t="t" l="l"/>
              <a:pathLst>
                <a:path h="1439861" w="2968569">
                  <a:moveTo>
                    <a:pt x="35030" y="0"/>
                  </a:moveTo>
                  <a:lnTo>
                    <a:pt x="2933538" y="0"/>
                  </a:lnTo>
                  <a:cubicBezTo>
                    <a:pt x="2952885" y="0"/>
                    <a:pt x="2968569" y="15684"/>
                    <a:pt x="2968569" y="35030"/>
                  </a:cubicBezTo>
                  <a:lnTo>
                    <a:pt x="2968569" y="1404830"/>
                  </a:lnTo>
                  <a:cubicBezTo>
                    <a:pt x="2968569" y="1424177"/>
                    <a:pt x="2952885" y="1439861"/>
                    <a:pt x="2933538" y="1439861"/>
                  </a:cubicBezTo>
                  <a:lnTo>
                    <a:pt x="35030" y="1439861"/>
                  </a:lnTo>
                  <a:cubicBezTo>
                    <a:pt x="15684" y="1439861"/>
                    <a:pt x="0" y="1424177"/>
                    <a:pt x="0" y="1404830"/>
                  </a:cubicBezTo>
                  <a:lnTo>
                    <a:pt x="0" y="35030"/>
                  </a:lnTo>
                  <a:cubicBezTo>
                    <a:pt x="0" y="15684"/>
                    <a:pt x="15684" y="0"/>
                    <a:pt x="35030" y="0"/>
                  </a:cubicBezTo>
                  <a:close/>
                </a:path>
              </a:pathLst>
            </a:custGeom>
            <a:solidFill>
              <a:srgbClr val="FFF9ED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66675"/>
              <a:ext cx="2968569" cy="15065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64"/>
                </a:lnSpc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-151546">
            <a:off x="4402313" y="2155843"/>
            <a:ext cx="9486732" cy="8502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437"/>
              </a:lnSpc>
            </a:pPr>
            <a:r>
              <a:rPr lang="en-US" sz="6130">
                <a:solidFill>
                  <a:srgbClr val="72BF97"/>
                </a:solidFill>
                <a:latin typeface="TOMO Trompa Pro"/>
                <a:ea typeface="TOMO Trompa Pro"/>
                <a:cs typeface="TOMO Trompa Pro"/>
                <a:sym typeface="TOMO Trompa Pro"/>
              </a:rPr>
              <a:t>Problema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4308674" y="3472776"/>
            <a:ext cx="9594496" cy="2277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sz="2600">
                <a:solidFill>
                  <a:srgbClr val="558176"/>
                </a:solidFill>
                <a:latin typeface="Open Sans 1"/>
                <a:ea typeface="Open Sans 1"/>
                <a:cs typeface="Open Sans 1"/>
                <a:sym typeface="Open Sans 1"/>
              </a:rPr>
              <a:t>Açaí, castanha,</a:t>
            </a:r>
            <a:r>
              <a:rPr lang="en-US" sz="2600">
                <a:solidFill>
                  <a:srgbClr val="558176"/>
                </a:solidFill>
                <a:latin typeface="Open Sans 1"/>
                <a:ea typeface="Open Sans 1"/>
                <a:cs typeface="Open Sans 1"/>
                <a:sym typeface="Open Sans 1"/>
              </a:rPr>
              <a:t> cupuaçu e murumuru saem de comunidades extrativistas e passam por beneficiamento, tra</a:t>
            </a:r>
            <a:r>
              <a:rPr lang="en-US" sz="2600">
                <a:solidFill>
                  <a:srgbClr val="558176"/>
                </a:solidFill>
                <a:latin typeface="Open Sans 1"/>
                <a:ea typeface="Open Sans 1"/>
                <a:cs typeface="Open Sans 1"/>
                <a:sym typeface="Open Sans 1"/>
              </a:rPr>
              <a:t>nsporte e distribuição até chegar ao consumidor. Cada etapa fica com uma organização diferente, e cada uma guarda o próprio registro.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4666653" y="5857744"/>
            <a:ext cx="9236518" cy="18199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sz="2600">
                <a:solidFill>
                  <a:srgbClr val="558176"/>
                </a:solidFill>
                <a:latin typeface="Open Sans 1"/>
                <a:ea typeface="Open Sans 1"/>
                <a:cs typeface="Open Sans 1"/>
                <a:sym typeface="Open Sans 1"/>
              </a:rPr>
              <a:t>O consumidor não tem co</a:t>
            </a:r>
            <a:r>
              <a:rPr lang="en-US" sz="2600">
                <a:solidFill>
                  <a:srgbClr val="558176"/>
                </a:solidFill>
                <a:latin typeface="Open Sans 1"/>
                <a:ea typeface="Open Sans 1"/>
                <a:cs typeface="Open Sans 1"/>
                <a:sym typeface="Open Sans 1"/>
              </a:rPr>
              <a:t>mo saber qual versão é a verdad</a:t>
            </a:r>
            <a:r>
              <a:rPr lang="en-US" sz="2600">
                <a:solidFill>
                  <a:srgbClr val="558176"/>
                </a:solidFill>
                <a:latin typeface="Open Sans 1"/>
                <a:ea typeface="Open Sans 1"/>
                <a:cs typeface="Open Sans 1"/>
                <a:sym typeface="Open Sans 1"/>
              </a:rPr>
              <a:t>eira, e quem administra o sistema pode alterar o histórico. Só o açaí extrativo movimentou R$ 853,1 milhões em 2023 (IBGE, PEVS 2023).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B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2073672">
            <a:off x="-1064897" y="434106"/>
            <a:ext cx="2825322" cy="3693231"/>
          </a:xfrm>
          <a:custGeom>
            <a:avLst/>
            <a:gdLst/>
            <a:ahLst/>
            <a:cxnLst/>
            <a:rect r="r" b="b" t="t" l="l"/>
            <a:pathLst>
              <a:path h="3693231" w="2825322">
                <a:moveTo>
                  <a:pt x="0" y="0"/>
                </a:moveTo>
                <a:lnTo>
                  <a:pt x="2825322" y="0"/>
                </a:lnTo>
                <a:lnTo>
                  <a:pt x="2825322" y="3693232"/>
                </a:lnTo>
                <a:lnTo>
                  <a:pt x="0" y="369323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350932" y="193583"/>
            <a:ext cx="3926905" cy="3494945"/>
          </a:xfrm>
          <a:custGeom>
            <a:avLst/>
            <a:gdLst/>
            <a:ahLst/>
            <a:cxnLst/>
            <a:rect r="r" b="b" t="t" l="l"/>
            <a:pathLst>
              <a:path h="3494945" w="3926905">
                <a:moveTo>
                  <a:pt x="0" y="0"/>
                </a:moveTo>
                <a:lnTo>
                  <a:pt x="3926904" y="0"/>
                </a:lnTo>
                <a:lnTo>
                  <a:pt x="3926904" y="3494945"/>
                </a:lnTo>
                <a:lnTo>
                  <a:pt x="0" y="349494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5134979" y="9258300"/>
            <a:ext cx="2832074" cy="2860681"/>
          </a:xfrm>
          <a:custGeom>
            <a:avLst/>
            <a:gdLst/>
            <a:ahLst/>
            <a:cxnLst/>
            <a:rect r="r" b="b" t="t" l="l"/>
            <a:pathLst>
              <a:path h="2860681" w="2832074">
                <a:moveTo>
                  <a:pt x="0" y="0"/>
                </a:moveTo>
                <a:lnTo>
                  <a:pt x="2832074" y="0"/>
                </a:lnTo>
                <a:lnTo>
                  <a:pt x="2832074" y="2860681"/>
                </a:lnTo>
                <a:lnTo>
                  <a:pt x="0" y="286068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6797669" y="4995976"/>
            <a:ext cx="3230032" cy="3262659"/>
          </a:xfrm>
          <a:custGeom>
            <a:avLst/>
            <a:gdLst/>
            <a:ahLst/>
            <a:cxnLst/>
            <a:rect r="r" b="b" t="t" l="l"/>
            <a:pathLst>
              <a:path h="3262659" w="3230032">
                <a:moveTo>
                  <a:pt x="0" y="0"/>
                </a:moveTo>
                <a:lnTo>
                  <a:pt x="3230032" y="0"/>
                </a:lnTo>
                <a:lnTo>
                  <a:pt x="3230032" y="3262659"/>
                </a:lnTo>
                <a:lnTo>
                  <a:pt x="0" y="3262659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5949722" y="-1088950"/>
            <a:ext cx="2578973" cy="2553184"/>
          </a:xfrm>
          <a:custGeom>
            <a:avLst/>
            <a:gdLst/>
            <a:ahLst/>
            <a:cxnLst/>
            <a:rect r="r" b="b" t="t" l="l"/>
            <a:pathLst>
              <a:path h="2553184" w="2578973">
                <a:moveTo>
                  <a:pt x="0" y="0"/>
                </a:moveTo>
                <a:lnTo>
                  <a:pt x="2578974" y="0"/>
                </a:lnTo>
                <a:lnTo>
                  <a:pt x="2578974" y="2553183"/>
                </a:lnTo>
                <a:lnTo>
                  <a:pt x="0" y="255318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-124272">
            <a:off x="1041261" y="1884166"/>
            <a:ext cx="17010698" cy="8502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437"/>
              </a:lnSpc>
            </a:pPr>
            <a:r>
              <a:rPr lang="en-US" sz="6130">
                <a:solidFill>
                  <a:srgbClr val="72BF97"/>
                </a:solidFill>
                <a:latin typeface="TOMO Trompa Pro"/>
                <a:ea typeface="TOMO Trompa Pro"/>
                <a:cs typeface="TOMO Trompa Pro"/>
                <a:sym typeface="TOMO Trompa Pro"/>
              </a:rPr>
              <a:t>Solução + por que Blockchain?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2336349" y="5532463"/>
            <a:ext cx="3927167" cy="4094331"/>
          </a:xfrm>
          <a:custGeom>
            <a:avLst/>
            <a:gdLst/>
            <a:ahLst/>
            <a:cxnLst/>
            <a:rect r="r" b="b" t="t" l="l"/>
            <a:pathLst>
              <a:path h="4094331" w="3927167">
                <a:moveTo>
                  <a:pt x="0" y="0"/>
                </a:moveTo>
                <a:lnTo>
                  <a:pt x="3927167" y="0"/>
                </a:lnTo>
                <a:lnTo>
                  <a:pt x="3927167" y="4094331"/>
                </a:lnTo>
                <a:lnTo>
                  <a:pt x="0" y="4094331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2343074" y="2922908"/>
            <a:ext cx="13708799" cy="2522201"/>
          </a:xfrm>
          <a:custGeom>
            <a:avLst/>
            <a:gdLst/>
            <a:ahLst/>
            <a:cxnLst/>
            <a:rect r="r" b="b" t="t" l="l"/>
            <a:pathLst>
              <a:path h="2522201" w="13708799">
                <a:moveTo>
                  <a:pt x="0" y="0"/>
                </a:moveTo>
                <a:lnTo>
                  <a:pt x="13708799" y="0"/>
                </a:lnTo>
                <a:lnTo>
                  <a:pt x="13708799" y="2522201"/>
                </a:lnTo>
                <a:lnTo>
                  <a:pt x="0" y="2522201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7196966" y="5636285"/>
            <a:ext cx="3927167" cy="4096150"/>
          </a:xfrm>
          <a:custGeom>
            <a:avLst/>
            <a:gdLst/>
            <a:ahLst/>
            <a:cxnLst/>
            <a:rect r="r" b="b" t="t" l="l"/>
            <a:pathLst>
              <a:path h="4096150" w="3927167">
                <a:moveTo>
                  <a:pt x="0" y="0"/>
                </a:moveTo>
                <a:lnTo>
                  <a:pt x="3927167" y="0"/>
                </a:lnTo>
                <a:lnTo>
                  <a:pt x="3927167" y="4096150"/>
                </a:lnTo>
                <a:lnTo>
                  <a:pt x="0" y="4096150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2058583" y="5532463"/>
            <a:ext cx="3927167" cy="4094331"/>
          </a:xfrm>
          <a:custGeom>
            <a:avLst/>
            <a:gdLst/>
            <a:ahLst/>
            <a:cxnLst/>
            <a:rect r="r" b="b" t="t" l="l"/>
            <a:pathLst>
              <a:path h="4094331" w="3927167">
                <a:moveTo>
                  <a:pt x="0" y="0"/>
                </a:moveTo>
                <a:lnTo>
                  <a:pt x="3927167" y="0"/>
                </a:lnTo>
                <a:lnTo>
                  <a:pt x="3927167" y="4094331"/>
                </a:lnTo>
                <a:lnTo>
                  <a:pt x="0" y="4094331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108960">
            <a:off x="2357067" y="3698886"/>
            <a:ext cx="13673652" cy="14127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558176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O EcoOrigem registra cada etapa do lote em uma blockchain local. Faz sentido usar blockchain porque vários participantes que não confiam totalmente uns nos outros precisam compartilhar o mesmo histórico.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476500" y="6835778"/>
            <a:ext cx="3619500" cy="18744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sz="2600">
                <a:solidFill>
                  <a:srgbClr val="558176"/>
                </a:solidFill>
                <a:latin typeface="Open Sans 2"/>
                <a:ea typeface="Open Sans 2"/>
                <a:cs typeface="Open Sans 2"/>
                <a:sym typeface="Open Sans 2"/>
              </a:rPr>
              <a:t>Cada operação leva a assinatura digital da carteira de quem executou.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7340603" y="6937372"/>
            <a:ext cx="3619500" cy="23361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sz="2600">
                <a:solidFill>
                  <a:srgbClr val="558176"/>
                </a:solidFill>
                <a:latin typeface="Open Sans 2"/>
                <a:ea typeface="Open Sans 2"/>
                <a:cs typeface="Open Sans 2"/>
                <a:sym typeface="Open Sans 2"/>
              </a:rPr>
              <a:t>Cada bloco guarda o hash do anterior. Alterar um bloco invalida todos os seguintes.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2204697" y="6835778"/>
            <a:ext cx="3619500" cy="18744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sz="2600">
                <a:solidFill>
                  <a:srgbClr val="558176"/>
                </a:solidFill>
                <a:latin typeface="Open Sans 2"/>
                <a:ea typeface="Open Sans 2"/>
                <a:cs typeface="Open Sans 2"/>
                <a:sym typeface="Open Sans 2"/>
              </a:rPr>
              <a:t>O contrato inteligente confere o perfil e a ordem das etapas antes de gravar.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3092577" y="5960974"/>
            <a:ext cx="2386984" cy="7067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55"/>
              </a:lnSpc>
            </a:pPr>
            <a:r>
              <a:rPr lang="en-US" sz="3611">
                <a:solidFill>
                  <a:srgbClr val="77968E"/>
                </a:solidFill>
                <a:latin typeface="Bryndan Write"/>
                <a:ea typeface="Bryndan Write"/>
                <a:cs typeface="Bryndan Write"/>
                <a:sym typeface="Bryndan Write"/>
              </a:rPr>
              <a:t>ASSINADA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7391400" y="5960974"/>
            <a:ext cx="3517897" cy="1360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55"/>
              </a:lnSpc>
            </a:pPr>
            <a:r>
              <a:rPr lang="en-US" sz="3611">
                <a:solidFill>
                  <a:srgbClr val="77968E"/>
                </a:solidFill>
                <a:latin typeface="Bryndan Write"/>
                <a:ea typeface="Bryndan Write"/>
                <a:cs typeface="Bryndan Write"/>
                <a:sym typeface="Bryndan Write"/>
              </a:rPr>
              <a:t>ENCADEADA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260951" y="5960974"/>
            <a:ext cx="3522412" cy="7067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55"/>
              </a:lnSpc>
            </a:pPr>
            <a:r>
              <a:rPr lang="en-US" sz="3611">
                <a:solidFill>
                  <a:srgbClr val="77968E"/>
                </a:solidFill>
                <a:latin typeface="Bryndan Write"/>
                <a:ea typeface="Bryndan Write"/>
                <a:cs typeface="Bryndan Write"/>
                <a:sym typeface="Bryndan Write"/>
              </a:rPr>
              <a:t>VALIDADA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087113" y="-2438837"/>
            <a:ext cx="12714015" cy="13313105"/>
          </a:xfrm>
          <a:custGeom>
            <a:avLst/>
            <a:gdLst/>
            <a:ahLst/>
            <a:cxnLst/>
            <a:rect r="r" b="b" t="t" l="l"/>
            <a:pathLst>
              <a:path h="13313105" w="12714015">
                <a:moveTo>
                  <a:pt x="0" y="0"/>
                </a:moveTo>
                <a:lnTo>
                  <a:pt x="12714015" y="0"/>
                </a:lnTo>
                <a:lnTo>
                  <a:pt x="12714015" y="13313105"/>
                </a:lnTo>
                <a:lnTo>
                  <a:pt x="0" y="1331310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-225003">
            <a:off x="1470178" y="523083"/>
            <a:ext cx="9377386" cy="19413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68"/>
              </a:lnSpc>
            </a:pPr>
            <a:r>
              <a:rPr lang="en-US" sz="5548">
                <a:solidFill>
                  <a:srgbClr val="FFF9ED"/>
                </a:solidFill>
                <a:latin typeface="TOMO Trompa Pro"/>
                <a:ea typeface="TOMO Trompa Pro"/>
                <a:cs typeface="TOMO Trompa Pro"/>
                <a:sym typeface="TOMO Trompa Pro"/>
              </a:rPr>
              <a:t>como funciona o ecorigem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350073" y="3963162"/>
            <a:ext cx="8089802" cy="1418282"/>
          </a:xfrm>
          <a:custGeom>
            <a:avLst/>
            <a:gdLst/>
            <a:ahLst/>
            <a:cxnLst/>
            <a:rect r="r" b="b" t="t" l="l"/>
            <a:pathLst>
              <a:path h="1418282" w="8089802">
                <a:moveTo>
                  <a:pt x="0" y="0"/>
                </a:moveTo>
                <a:lnTo>
                  <a:pt x="8089802" y="0"/>
                </a:lnTo>
                <a:lnTo>
                  <a:pt x="8089802" y="1418282"/>
                </a:lnTo>
                <a:lnTo>
                  <a:pt x="0" y="141828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350073" y="5334762"/>
            <a:ext cx="8089802" cy="1418282"/>
          </a:xfrm>
          <a:custGeom>
            <a:avLst/>
            <a:gdLst/>
            <a:ahLst/>
            <a:cxnLst/>
            <a:rect r="r" b="b" t="t" l="l"/>
            <a:pathLst>
              <a:path h="1418282" w="8089802">
                <a:moveTo>
                  <a:pt x="0" y="0"/>
                </a:moveTo>
                <a:lnTo>
                  <a:pt x="8089802" y="0"/>
                </a:lnTo>
                <a:lnTo>
                  <a:pt x="8089802" y="1418282"/>
                </a:lnTo>
                <a:lnTo>
                  <a:pt x="0" y="141828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350073" y="6706362"/>
            <a:ext cx="8089802" cy="1418282"/>
          </a:xfrm>
          <a:custGeom>
            <a:avLst/>
            <a:gdLst/>
            <a:ahLst/>
            <a:cxnLst/>
            <a:rect r="r" b="b" t="t" l="l"/>
            <a:pathLst>
              <a:path h="1418282" w="8089802">
                <a:moveTo>
                  <a:pt x="0" y="0"/>
                </a:moveTo>
                <a:lnTo>
                  <a:pt x="8089802" y="0"/>
                </a:lnTo>
                <a:lnTo>
                  <a:pt x="8089802" y="1418282"/>
                </a:lnTo>
                <a:lnTo>
                  <a:pt x="0" y="141828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424207" y="2971800"/>
            <a:ext cx="8127997" cy="8805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558176"/>
                </a:solidFill>
                <a:latin typeface="Open Sans 2"/>
                <a:ea typeface="Open Sans 2"/>
                <a:cs typeface="Open Sans 2"/>
                <a:sym typeface="Open Sans 2"/>
              </a:rPr>
              <a:t>Cada participante tem uma carteira com um perfil, e cada etapa define quem executa a próxima.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892303" y="4342171"/>
            <a:ext cx="6984997" cy="7422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>
                <a:solidFill>
                  <a:srgbClr val="558176"/>
                </a:solidFill>
                <a:latin typeface="Open Sans 2"/>
                <a:ea typeface="Open Sans 2"/>
                <a:cs typeface="Open Sans 2"/>
                <a:sym typeface="Open Sans 2"/>
              </a:rPr>
              <a:t>O produtor cadastra o lote com produto, origem, quantidade e data da coleta, e escolhe o beneficiador.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892303" y="5713771"/>
            <a:ext cx="6984997" cy="7422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>
                <a:solidFill>
                  <a:srgbClr val="558176"/>
                </a:solidFill>
                <a:latin typeface="Open Sans 2"/>
                <a:ea typeface="Open Sans 2"/>
                <a:cs typeface="Open Sans 2"/>
                <a:sym typeface="Open Sans 2"/>
              </a:rPr>
              <a:t>O beneficiador designado registra o processamento e escolhe o transportador.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1350073" y="8012354"/>
            <a:ext cx="8089802" cy="1805083"/>
          </a:xfrm>
          <a:custGeom>
            <a:avLst/>
            <a:gdLst/>
            <a:ahLst/>
            <a:cxnLst/>
            <a:rect r="r" b="b" t="t" l="l"/>
            <a:pathLst>
              <a:path h="1805083" w="8089802">
                <a:moveTo>
                  <a:pt x="0" y="0"/>
                </a:moveTo>
                <a:lnTo>
                  <a:pt x="8089802" y="0"/>
                </a:lnTo>
                <a:lnTo>
                  <a:pt x="8089802" y="1805083"/>
                </a:lnTo>
                <a:lnTo>
                  <a:pt x="0" y="180508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1892303" y="7085371"/>
            <a:ext cx="6984997" cy="7422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>
                <a:solidFill>
                  <a:srgbClr val="558176"/>
                </a:solidFill>
                <a:latin typeface="Open Sans 2"/>
                <a:ea typeface="Open Sans 2"/>
                <a:cs typeface="Open Sans 2"/>
                <a:sym typeface="Open Sans 2"/>
              </a:rPr>
              <a:t>O transportador designado inicia o transporte e indica o distribuidor que vai receber.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892303" y="8429835"/>
            <a:ext cx="6984997" cy="11013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>
                <a:solidFill>
                  <a:srgbClr val="558176"/>
                </a:solidFill>
                <a:latin typeface="Open Sans 2"/>
                <a:ea typeface="Open Sans 2"/>
                <a:cs typeface="Open Sans 2"/>
                <a:sym typeface="Open Sans 2"/>
              </a:rPr>
              <a:t>O distribuidor designado confirma o recebimento e finaliza o lote. Qualquer pessoa consulta o histórico sem precisar de carteira.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882197" y="326131"/>
            <a:ext cx="3520103" cy="3044890"/>
          </a:xfrm>
          <a:custGeom>
            <a:avLst/>
            <a:gdLst/>
            <a:ahLst/>
            <a:cxnLst/>
            <a:rect r="r" b="b" t="t" l="l"/>
            <a:pathLst>
              <a:path h="3044890" w="3520103">
                <a:moveTo>
                  <a:pt x="0" y="0"/>
                </a:moveTo>
                <a:lnTo>
                  <a:pt x="3520103" y="0"/>
                </a:lnTo>
                <a:lnTo>
                  <a:pt x="3520103" y="3044890"/>
                </a:lnTo>
                <a:lnTo>
                  <a:pt x="0" y="304489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-225003">
            <a:off x="1753096" y="1312866"/>
            <a:ext cx="6546204" cy="9573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68"/>
              </a:lnSpc>
            </a:pPr>
            <a:r>
              <a:rPr lang="en-US" sz="5548">
                <a:solidFill>
                  <a:srgbClr val="FFF9ED"/>
                </a:solidFill>
                <a:latin typeface="TOMO Trompa Pro"/>
                <a:ea typeface="TOMO Trompa Pro"/>
                <a:cs typeface="TOMO Trompa Pro"/>
                <a:sym typeface="TOMO Trompa Pro"/>
              </a:rPr>
              <a:t>Arquitetura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5029933" y="2943663"/>
            <a:ext cx="8691124" cy="8153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558176"/>
                </a:solidFill>
                <a:latin typeface="Open Sans 2"/>
                <a:ea typeface="Open Sans 2"/>
                <a:cs typeface="Open Sans 2"/>
                <a:sym typeface="Open Sans 2"/>
              </a:rPr>
              <a:t>Tudo roda na máquina local, em Python, seguindo o modelo de DApp da Aula 01: interface, contrato e blockchain.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76300" y="4492428"/>
            <a:ext cx="16535400" cy="3835403"/>
            <a:chOff x="0" y="0"/>
            <a:chExt cx="22047200" cy="511387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2047200" cy="5113782"/>
            </a:xfrm>
            <a:custGeom>
              <a:avLst/>
              <a:gdLst/>
              <a:ahLst/>
              <a:cxnLst/>
              <a:rect r="r" b="b" t="t" l="l"/>
              <a:pathLst>
                <a:path h="5113782" w="22047200">
                  <a:moveTo>
                    <a:pt x="0" y="409067"/>
                  </a:moveTo>
                  <a:cubicBezTo>
                    <a:pt x="0" y="183134"/>
                    <a:pt x="183134" y="0"/>
                    <a:pt x="409067" y="0"/>
                  </a:cubicBezTo>
                  <a:lnTo>
                    <a:pt x="21638133" y="0"/>
                  </a:lnTo>
                  <a:cubicBezTo>
                    <a:pt x="21864065" y="0"/>
                    <a:pt x="22047200" y="183134"/>
                    <a:pt x="22047200" y="409067"/>
                  </a:cubicBezTo>
                  <a:lnTo>
                    <a:pt x="22047200" y="4704715"/>
                  </a:lnTo>
                  <a:cubicBezTo>
                    <a:pt x="22047200" y="4930648"/>
                    <a:pt x="21864065" y="5113782"/>
                    <a:pt x="21638133" y="5113782"/>
                  </a:cubicBezTo>
                  <a:lnTo>
                    <a:pt x="409067" y="5113782"/>
                  </a:lnTo>
                  <a:cubicBezTo>
                    <a:pt x="183134" y="5113909"/>
                    <a:pt x="0" y="4930648"/>
                    <a:pt x="0" y="4704715"/>
                  </a:cubicBez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4005" r="0" b="-34007"/>
              </a:stretch>
            </a:blipFill>
            <a:ln w="25400" cap="sq">
              <a:solidFill>
                <a:srgbClr val="558176"/>
              </a:solidFill>
              <a:prstDash val="dash"/>
              <a:miter/>
            </a:ln>
          </p:spPr>
        </p:sp>
      </p:grpSp>
      <p:sp>
        <p:nvSpPr>
          <p:cNvPr name="Freeform 7" id="7"/>
          <p:cNvSpPr/>
          <p:nvPr/>
        </p:nvSpPr>
        <p:spPr>
          <a:xfrm flipH="false" flipV="false" rot="0">
            <a:off x="1226068" y="4403912"/>
            <a:ext cx="4913871" cy="3574571"/>
          </a:xfrm>
          <a:custGeom>
            <a:avLst/>
            <a:gdLst/>
            <a:ahLst/>
            <a:cxnLst/>
            <a:rect r="r" b="b" t="t" l="l"/>
            <a:pathLst>
              <a:path h="3574571" w="4913871">
                <a:moveTo>
                  <a:pt x="0" y="0"/>
                </a:moveTo>
                <a:lnTo>
                  <a:pt x="4913871" y="0"/>
                </a:lnTo>
                <a:lnTo>
                  <a:pt x="4913871" y="3574571"/>
                </a:lnTo>
                <a:lnTo>
                  <a:pt x="0" y="357457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6687064" y="4375442"/>
            <a:ext cx="4913871" cy="3610166"/>
          </a:xfrm>
          <a:custGeom>
            <a:avLst/>
            <a:gdLst/>
            <a:ahLst/>
            <a:cxnLst/>
            <a:rect r="r" b="b" t="t" l="l"/>
            <a:pathLst>
              <a:path h="3610166" w="4913871">
                <a:moveTo>
                  <a:pt x="0" y="0"/>
                </a:moveTo>
                <a:lnTo>
                  <a:pt x="4913872" y="0"/>
                </a:lnTo>
                <a:lnTo>
                  <a:pt x="4913872" y="3610166"/>
                </a:lnTo>
                <a:lnTo>
                  <a:pt x="0" y="3610166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2148061" y="4375442"/>
            <a:ext cx="4913871" cy="3610166"/>
          </a:xfrm>
          <a:custGeom>
            <a:avLst/>
            <a:gdLst/>
            <a:ahLst/>
            <a:cxnLst/>
            <a:rect r="r" b="b" t="t" l="l"/>
            <a:pathLst>
              <a:path h="3610166" w="4913871">
                <a:moveTo>
                  <a:pt x="0" y="0"/>
                </a:moveTo>
                <a:lnTo>
                  <a:pt x="4913871" y="0"/>
                </a:lnTo>
                <a:lnTo>
                  <a:pt x="4913871" y="3610166"/>
                </a:lnTo>
                <a:lnTo>
                  <a:pt x="0" y="3610166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0" id="10"/>
          <p:cNvGrpSpPr/>
          <p:nvPr/>
        </p:nvGrpSpPr>
        <p:grpSpPr>
          <a:xfrm rot="0">
            <a:off x="1574797" y="5140128"/>
            <a:ext cx="4140203" cy="2540003"/>
            <a:chOff x="0" y="0"/>
            <a:chExt cx="5520271" cy="338667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520267" cy="3386667"/>
            </a:xfrm>
            <a:custGeom>
              <a:avLst/>
              <a:gdLst/>
              <a:ahLst/>
              <a:cxnLst/>
              <a:rect r="r" b="b" t="t" l="l"/>
              <a:pathLst>
                <a:path h="3386667" w="5520267">
                  <a:moveTo>
                    <a:pt x="0" y="0"/>
                  </a:moveTo>
                  <a:lnTo>
                    <a:pt x="5520267" y="0"/>
                  </a:lnTo>
                  <a:lnTo>
                    <a:pt x="5520267" y="3386667"/>
                  </a:lnTo>
                  <a:lnTo>
                    <a:pt x="0" y="3386667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8713" t="0" r="-28713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47625"/>
              <a:ext cx="5520271" cy="34342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220"/>
                </a:lnSpc>
              </a:pPr>
              <a:r>
                <a:rPr lang="en-US" sz="2300" b="true">
                  <a:solidFill>
                    <a:srgbClr val="558176"/>
                  </a:solidFill>
                  <a:latin typeface="Open Sans 2 Bold"/>
                  <a:ea typeface="Open Sans 2 Bold"/>
                  <a:cs typeface="Open Sans 2 Bold"/>
                  <a:sym typeface="Open Sans 2 Bold"/>
                </a:rPr>
                <a:t>Interface e gateway: </a:t>
              </a:r>
              <a:r>
                <a:rPr lang="en-US" sz="2300">
                  <a:solidFill>
                    <a:srgbClr val="558176"/>
                  </a:solidFill>
                  <a:latin typeface="Open Sans 2"/>
                  <a:ea typeface="Open Sans 2"/>
                  <a:cs typeface="Open Sans 2"/>
                  <a:sym typeface="Open Sans 2"/>
                </a:rPr>
                <a:t>o usuário opera pela tela web, e o gateway assina a transação com a carteira ativa.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7035803" y="5140128"/>
            <a:ext cx="4140203" cy="2540003"/>
            <a:chOff x="0" y="0"/>
            <a:chExt cx="5520271" cy="3386671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520267" cy="3386667"/>
            </a:xfrm>
            <a:custGeom>
              <a:avLst/>
              <a:gdLst/>
              <a:ahLst/>
              <a:cxnLst/>
              <a:rect r="r" b="b" t="t" l="l"/>
              <a:pathLst>
                <a:path h="3386667" w="5520267">
                  <a:moveTo>
                    <a:pt x="0" y="0"/>
                  </a:moveTo>
                  <a:lnTo>
                    <a:pt x="5520267" y="0"/>
                  </a:lnTo>
                  <a:lnTo>
                    <a:pt x="5520267" y="3386667"/>
                  </a:lnTo>
                  <a:lnTo>
                    <a:pt x="0" y="3386667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8713" t="0" r="-28713" b="0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47625"/>
              <a:ext cx="5520271" cy="34342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220"/>
                </a:lnSpc>
              </a:pPr>
              <a:r>
                <a:rPr lang="en-US" sz="2300" b="true">
                  <a:solidFill>
                    <a:srgbClr val="558176"/>
                  </a:solidFill>
                  <a:latin typeface="Open Sans 2 Bold"/>
                  <a:ea typeface="Open Sans 2 Bold"/>
                  <a:cs typeface="Open Sans 2 Bold"/>
                  <a:sym typeface="Open Sans 2 Bold"/>
                </a:rPr>
                <a:t>Nó da blockchain: </a:t>
              </a:r>
              <a:r>
                <a:rPr lang="en-US" sz="2300">
                  <a:solidFill>
                    <a:srgbClr val="558176"/>
                  </a:solidFill>
                  <a:latin typeface="Open Sans 2"/>
                  <a:ea typeface="Open Sans 2"/>
                  <a:cs typeface="Open Sans 2"/>
                  <a:sym typeface="Open Sans 2"/>
                </a:rPr>
                <a:t>confere a assinatura, o nonce e a data, executa o contrato, minera o bloco com prova de trabalho e grava a cadeia.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2496800" y="5140128"/>
            <a:ext cx="4140203" cy="2540003"/>
            <a:chOff x="0" y="0"/>
            <a:chExt cx="5520271" cy="3386671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5520267" cy="3386667"/>
            </a:xfrm>
            <a:custGeom>
              <a:avLst/>
              <a:gdLst/>
              <a:ahLst/>
              <a:cxnLst/>
              <a:rect r="r" b="b" t="t" l="l"/>
              <a:pathLst>
                <a:path h="3386667" w="5520267">
                  <a:moveTo>
                    <a:pt x="0" y="0"/>
                  </a:moveTo>
                  <a:lnTo>
                    <a:pt x="5520267" y="0"/>
                  </a:lnTo>
                  <a:lnTo>
                    <a:pt x="5520267" y="3386667"/>
                  </a:lnTo>
                  <a:lnTo>
                    <a:pt x="0" y="3386667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8713" t="0" r="-28713" b="0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47625"/>
              <a:ext cx="5520271" cy="34342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220"/>
                </a:lnSpc>
              </a:pPr>
              <a:r>
                <a:rPr lang="en-US" sz="2300" b="true">
                  <a:solidFill>
                    <a:srgbClr val="558176"/>
                  </a:solidFill>
                  <a:latin typeface="Open Sans 2 Bold"/>
                  <a:ea typeface="Open Sans 2 Bold"/>
                  <a:cs typeface="Open Sans 2 Bold"/>
                  <a:sym typeface="Open Sans 2 Bold"/>
                </a:rPr>
                <a:t>Cadeia de blocos: </a:t>
              </a:r>
              <a:r>
                <a:rPr lang="en-US" sz="2300">
                  <a:solidFill>
                    <a:srgbClr val="558176"/>
                  </a:solidFill>
                  <a:latin typeface="Open Sans 2"/>
                  <a:ea typeface="Open Sans 2"/>
                  <a:cs typeface="Open Sans 2"/>
                  <a:sym typeface="Open Sans 2"/>
                </a:rPr>
                <a:t>cada bloco tem hash SHA-256, hash do bloco anterior, raiz de Merkle e nonce, como na implementação da Aula 02.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269997" y="4301928"/>
            <a:ext cx="4064003" cy="406403"/>
            <a:chOff x="0" y="0"/>
            <a:chExt cx="5418671" cy="541871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5418709" cy="541909"/>
            </a:xfrm>
            <a:custGeom>
              <a:avLst/>
              <a:gdLst/>
              <a:ahLst/>
              <a:cxnLst/>
              <a:rect r="r" b="b" t="t" l="l"/>
              <a:pathLst>
                <a:path h="541909" w="5418709">
                  <a:moveTo>
                    <a:pt x="0" y="0"/>
                  </a:moveTo>
                  <a:lnTo>
                    <a:pt x="5418709" y="0"/>
                  </a:lnTo>
                  <a:lnTo>
                    <a:pt x="5418709" y="541909"/>
                  </a:lnTo>
                  <a:lnTo>
                    <a:pt x="0" y="541909"/>
                  </a:lnTo>
                  <a:close/>
                </a:path>
              </a:pathLst>
            </a:custGeom>
            <a:solidFill>
              <a:srgbClr val="FFF9ED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9525"/>
              <a:ext cx="5418671" cy="53234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558176"/>
                  </a:solidFill>
                  <a:latin typeface="Open Sans 2 Bold"/>
                  <a:ea typeface="Open Sans 2 Bold"/>
                  <a:cs typeface="Open Sans 2 Bold"/>
                  <a:sym typeface="Open Sans 2 Bold"/>
                </a:rPr>
                <a:t>Máquina local, em Python</a:t>
              </a:r>
            </a:p>
          </p:txBody>
        </p:sp>
      </p:grpSp>
      <p:sp>
        <p:nvSpPr>
          <p:cNvPr name="AutoShape 22" id="22"/>
          <p:cNvSpPr/>
          <p:nvPr/>
        </p:nvSpPr>
        <p:spPr>
          <a:xfrm>
            <a:off x="6153151" y="6391084"/>
            <a:ext cx="520702" cy="38101"/>
          </a:xfrm>
          <a:prstGeom prst="line">
            <a:avLst/>
          </a:prstGeom>
          <a:ln cap="rnd" w="28575">
            <a:solidFill>
              <a:srgbClr val="558176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23" id="23"/>
          <p:cNvSpPr/>
          <p:nvPr/>
        </p:nvSpPr>
        <p:spPr>
          <a:xfrm>
            <a:off x="11614148" y="6391084"/>
            <a:ext cx="520702" cy="38101"/>
          </a:xfrm>
          <a:prstGeom prst="line">
            <a:avLst/>
          </a:prstGeom>
          <a:ln cap="rnd" w="28575">
            <a:solidFill>
              <a:srgbClr val="558176"/>
            </a:solidFill>
            <a:prstDash val="solid"/>
            <a:headEnd type="none" len="sm" w="sm"/>
            <a:tailEnd type="triangle" len="med" w="lg"/>
          </a:ln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2BF9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-114472">
            <a:off x="1690307" y="1514413"/>
            <a:ext cx="15936710" cy="9573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68"/>
              </a:lnSpc>
            </a:pPr>
            <a:r>
              <a:rPr lang="en-US" sz="5548">
                <a:solidFill>
                  <a:srgbClr val="558176"/>
                </a:solidFill>
                <a:latin typeface="TOMO Trompa Pro"/>
                <a:ea typeface="TOMO Trompa Pro"/>
                <a:cs typeface="TOMO Trompa Pro"/>
                <a:sym typeface="TOMO Trompa Pro"/>
              </a:rPr>
              <a:t>Regras do contrato inteligente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302180">
            <a:off x="17112996" y="1188268"/>
            <a:ext cx="2832074" cy="2860681"/>
          </a:xfrm>
          <a:custGeom>
            <a:avLst/>
            <a:gdLst/>
            <a:ahLst/>
            <a:cxnLst/>
            <a:rect r="r" b="b" t="t" l="l"/>
            <a:pathLst>
              <a:path h="2860681" w="2832074">
                <a:moveTo>
                  <a:pt x="0" y="0"/>
                </a:moveTo>
                <a:lnTo>
                  <a:pt x="2832074" y="0"/>
                </a:lnTo>
                <a:lnTo>
                  <a:pt x="2832074" y="2860680"/>
                </a:lnTo>
                <a:lnTo>
                  <a:pt x="0" y="286068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302180">
            <a:off x="10862814" y="-1807024"/>
            <a:ext cx="3230032" cy="3262659"/>
          </a:xfrm>
          <a:custGeom>
            <a:avLst/>
            <a:gdLst/>
            <a:ahLst/>
            <a:cxnLst/>
            <a:rect r="r" b="b" t="t" l="l"/>
            <a:pathLst>
              <a:path h="3262659" w="3230032">
                <a:moveTo>
                  <a:pt x="0" y="0"/>
                </a:moveTo>
                <a:lnTo>
                  <a:pt x="3230032" y="0"/>
                </a:lnTo>
                <a:lnTo>
                  <a:pt x="3230032" y="3262658"/>
                </a:lnTo>
                <a:lnTo>
                  <a:pt x="0" y="326265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302180">
            <a:off x="-1657364" y="6802971"/>
            <a:ext cx="2578973" cy="2553184"/>
          </a:xfrm>
          <a:custGeom>
            <a:avLst/>
            <a:gdLst/>
            <a:ahLst/>
            <a:cxnLst/>
            <a:rect r="r" b="b" t="t" l="l"/>
            <a:pathLst>
              <a:path h="2553184" w="2578973">
                <a:moveTo>
                  <a:pt x="0" y="0"/>
                </a:moveTo>
                <a:lnTo>
                  <a:pt x="2578973" y="0"/>
                </a:lnTo>
                <a:lnTo>
                  <a:pt x="2578973" y="2553184"/>
                </a:lnTo>
                <a:lnTo>
                  <a:pt x="0" y="255318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351864" y="6444120"/>
            <a:ext cx="4967059" cy="3186741"/>
          </a:xfrm>
          <a:custGeom>
            <a:avLst/>
            <a:gdLst/>
            <a:ahLst/>
            <a:cxnLst/>
            <a:rect r="r" b="b" t="t" l="l"/>
            <a:pathLst>
              <a:path h="3186741" w="4967059">
                <a:moveTo>
                  <a:pt x="0" y="0"/>
                </a:moveTo>
                <a:lnTo>
                  <a:pt x="4967059" y="0"/>
                </a:lnTo>
                <a:lnTo>
                  <a:pt x="4967059" y="3186741"/>
                </a:lnTo>
                <a:lnTo>
                  <a:pt x="0" y="318674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6686721" y="6444120"/>
            <a:ext cx="4965354" cy="3186741"/>
          </a:xfrm>
          <a:custGeom>
            <a:avLst/>
            <a:gdLst/>
            <a:ahLst/>
            <a:cxnLst/>
            <a:rect r="r" b="b" t="t" l="l"/>
            <a:pathLst>
              <a:path h="3186741" w="4965354">
                <a:moveTo>
                  <a:pt x="0" y="0"/>
                </a:moveTo>
                <a:lnTo>
                  <a:pt x="4965354" y="0"/>
                </a:lnTo>
                <a:lnTo>
                  <a:pt x="4965354" y="3186741"/>
                </a:lnTo>
                <a:lnTo>
                  <a:pt x="0" y="3186741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2020721" y="6444120"/>
            <a:ext cx="4965354" cy="3186741"/>
          </a:xfrm>
          <a:custGeom>
            <a:avLst/>
            <a:gdLst/>
            <a:ahLst/>
            <a:cxnLst/>
            <a:rect r="r" b="b" t="t" l="l"/>
            <a:pathLst>
              <a:path h="3186741" w="4965354">
                <a:moveTo>
                  <a:pt x="0" y="0"/>
                </a:moveTo>
                <a:lnTo>
                  <a:pt x="4965354" y="0"/>
                </a:lnTo>
                <a:lnTo>
                  <a:pt x="4965354" y="3186741"/>
                </a:lnTo>
                <a:lnTo>
                  <a:pt x="0" y="3186741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701803" y="6792601"/>
            <a:ext cx="4267200" cy="2492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199">
                <a:solidFill>
                  <a:srgbClr val="558176"/>
                </a:solidFill>
                <a:latin typeface="Open Sans 2"/>
                <a:ea typeface="Open Sans 2"/>
                <a:cs typeface="Open Sans 2"/>
                <a:sym typeface="Open Sans 2"/>
              </a:rPr>
              <a:t>Cada etapa exige um perfil, e só a carteira designada pela etapa anterior pode executá-la. Qualquer outra recebe ACCESS_DENIED.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035803" y="6792601"/>
            <a:ext cx="4267200" cy="29033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199">
                <a:solidFill>
                  <a:srgbClr val="558176"/>
                </a:solidFill>
                <a:latin typeface="Open Sans 2"/>
                <a:ea typeface="Open Sans 2"/>
                <a:cs typeface="Open Sans 2"/>
                <a:sym typeface="Open Sans 2"/>
              </a:rPr>
              <a:t>Cadastrado, beneficiado, em transporte, distribuído e finalizado. Pular ou repetir etapa gera INVALID_TRANSITION, e o lote finalizado não muda mais.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2369803" y="6792601"/>
            <a:ext cx="4267200" cy="16722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199">
                <a:solidFill>
                  <a:srgbClr val="558176"/>
                </a:solidFill>
                <a:latin typeface="Open Sans 2"/>
                <a:ea typeface="Open Sans 2"/>
                <a:cs typeface="Open Sans 2"/>
                <a:sym typeface="Open Sans 2"/>
              </a:rPr>
              <a:t>Origem, quantidade, etapas, responsáveis, datas e o hash dos documentos. Arquivos e dados pessoais ficam fora.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47423" y="5906776"/>
            <a:ext cx="5776417" cy="6406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635"/>
              </a:lnSpc>
            </a:pPr>
            <a:r>
              <a:rPr lang="en-US" sz="3311">
                <a:solidFill>
                  <a:srgbClr val="FFF9ED"/>
                </a:solidFill>
                <a:latin typeface="Bryndan Write"/>
                <a:ea typeface="Bryndan Write"/>
                <a:cs typeface="Bryndan Write"/>
                <a:sym typeface="Bryndan Write"/>
              </a:rPr>
              <a:t>QUEM PODE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281423" y="5906776"/>
            <a:ext cx="5776417" cy="6406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635"/>
              </a:lnSpc>
            </a:pPr>
            <a:r>
              <a:rPr lang="en-US" sz="3311">
                <a:solidFill>
                  <a:srgbClr val="FFF9ED"/>
                </a:solidFill>
                <a:latin typeface="Bryndan Write"/>
                <a:ea typeface="Bryndan Write"/>
                <a:cs typeface="Bryndan Write"/>
                <a:sym typeface="Bryndan Write"/>
              </a:rPr>
              <a:t>EM QUE ORDEM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1615423" y="5906776"/>
            <a:ext cx="5776417" cy="6406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635"/>
              </a:lnSpc>
            </a:pPr>
            <a:r>
              <a:rPr lang="en-US" sz="3311">
                <a:solidFill>
                  <a:srgbClr val="FFF9ED"/>
                </a:solidFill>
                <a:latin typeface="Bryndan Write"/>
                <a:ea typeface="Bryndan Write"/>
                <a:cs typeface="Bryndan Write"/>
                <a:sym typeface="Bryndan Write"/>
              </a:rPr>
              <a:t>O QUE FICA NA CADEIA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513837" y="9918068"/>
            <a:ext cx="15311123" cy="416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39"/>
              </a:lnSpc>
            </a:pPr>
            <a:r>
              <a:rPr lang="en-US" sz="2199" b="true">
                <a:solidFill>
                  <a:srgbClr val="FFF9ED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Tudo é validado antes da mineração: uma operação inválida nunca vira bloco.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408109" y="2949264"/>
            <a:ext cx="15522578" cy="2847975"/>
            <a:chOff x="0" y="0"/>
            <a:chExt cx="20696771" cy="37973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0696808" cy="3797300"/>
            </a:xfrm>
            <a:custGeom>
              <a:avLst/>
              <a:gdLst/>
              <a:ahLst/>
              <a:cxnLst/>
              <a:rect r="r" b="b" t="t" l="l"/>
              <a:pathLst>
                <a:path h="3797300" w="20696808">
                  <a:moveTo>
                    <a:pt x="0" y="607568"/>
                  </a:moveTo>
                  <a:cubicBezTo>
                    <a:pt x="0" y="272034"/>
                    <a:pt x="272034" y="0"/>
                    <a:pt x="607568" y="0"/>
                  </a:cubicBezTo>
                  <a:lnTo>
                    <a:pt x="20089240" y="0"/>
                  </a:lnTo>
                  <a:cubicBezTo>
                    <a:pt x="20424775" y="0"/>
                    <a:pt x="20696808" y="272034"/>
                    <a:pt x="20696808" y="607568"/>
                  </a:cubicBezTo>
                  <a:lnTo>
                    <a:pt x="20696808" y="3189732"/>
                  </a:lnTo>
                  <a:cubicBezTo>
                    <a:pt x="20696808" y="3525266"/>
                    <a:pt x="20424775" y="3797300"/>
                    <a:pt x="20089240" y="3797300"/>
                  </a:cubicBezTo>
                  <a:lnTo>
                    <a:pt x="607568" y="3797300"/>
                  </a:lnTo>
                  <a:cubicBezTo>
                    <a:pt x="272034" y="3797300"/>
                    <a:pt x="0" y="3525266"/>
                    <a:pt x="0" y="3189732"/>
                  </a:cubicBezTo>
                  <a:close/>
                </a:path>
              </a:pathLst>
            </a:custGeom>
            <a:solidFill>
              <a:srgbClr val="FFF9ED"/>
            </a:solidFill>
            <a:ln w="28575" cap="sq">
              <a:solidFill>
                <a:srgbClr val="558176"/>
              </a:solidFill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1485900" y="3141355"/>
            <a:ext cx="3073403" cy="685800"/>
            <a:chOff x="0" y="0"/>
            <a:chExt cx="4097871" cy="9144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4097867" cy="914400"/>
            </a:xfrm>
            <a:custGeom>
              <a:avLst/>
              <a:gdLst/>
              <a:ahLst/>
              <a:cxnLst/>
              <a:rect r="r" b="b" t="t" l="l"/>
              <a:pathLst>
                <a:path h="914400" w="4097867">
                  <a:moveTo>
                    <a:pt x="0" y="0"/>
                  </a:moveTo>
                  <a:lnTo>
                    <a:pt x="4097867" y="0"/>
                  </a:lnTo>
                  <a:lnTo>
                    <a:pt x="4097867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12">
                <a:alphaModFix amt="0"/>
              </a:blip>
              <a:stretch>
                <a:fillRect l="0" t="-37321" r="0" b="-37321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9525"/>
              <a:ext cx="4097871" cy="923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b="true">
                  <a:solidFill>
                    <a:srgbClr val="558176"/>
                  </a:solidFill>
                  <a:latin typeface="Open Sans 2 Bold"/>
                  <a:ea typeface="Open Sans 2 Bold"/>
                  <a:cs typeface="Open Sans 2 Bold"/>
                  <a:sym typeface="Open Sans 2 Bold"/>
                </a:rPr>
                <a:t>register_lot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4E6E65"/>
                  </a:solidFill>
                  <a:latin typeface="Open Sans 2"/>
                  <a:ea typeface="Open Sans 2"/>
                  <a:cs typeface="Open Sans 2"/>
                  <a:sym typeface="Open Sans 2"/>
                </a:rPr>
                <a:t>Produtor</a:t>
              </a:r>
            </a:p>
          </p:txBody>
        </p:sp>
      </p:grpSp>
      <p:sp>
        <p:nvSpPr>
          <p:cNvPr name="AutoShape 21" id="21"/>
          <p:cNvSpPr/>
          <p:nvPr/>
        </p:nvSpPr>
        <p:spPr>
          <a:xfrm>
            <a:off x="3011488" y="3866839"/>
            <a:ext cx="22227" cy="288925"/>
          </a:xfrm>
          <a:prstGeom prst="line">
            <a:avLst/>
          </a:prstGeom>
          <a:ln cap="rnd" w="19050">
            <a:solidFill>
              <a:srgbClr val="9DB8A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2" id="22"/>
          <p:cNvGrpSpPr/>
          <p:nvPr/>
        </p:nvGrpSpPr>
        <p:grpSpPr>
          <a:xfrm rot="0">
            <a:off x="1700212" y="4168464"/>
            <a:ext cx="2644778" cy="815978"/>
            <a:chOff x="0" y="0"/>
            <a:chExt cx="3526371" cy="1087971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3526409" cy="1088009"/>
            </a:xfrm>
            <a:custGeom>
              <a:avLst/>
              <a:gdLst/>
              <a:ahLst/>
              <a:cxnLst/>
              <a:rect r="r" b="b" t="t" l="l"/>
              <a:pathLst>
                <a:path h="1088009" w="3526409">
                  <a:moveTo>
                    <a:pt x="0" y="174117"/>
                  </a:moveTo>
                  <a:cubicBezTo>
                    <a:pt x="0" y="77978"/>
                    <a:pt x="77978" y="0"/>
                    <a:pt x="174117" y="0"/>
                  </a:cubicBezTo>
                  <a:lnTo>
                    <a:pt x="3352292" y="0"/>
                  </a:lnTo>
                  <a:cubicBezTo>
                    <a:pt x="3448431" y="0"/>
                    <a:pt x="3526409" y="77978"/>
                    <a:pt x="3526409" y="174117"/>
                  </a:cubicBezTo>
                  <a:lnTo>
                    <a:pt x="3526409" y="913892"/>
                  </a:lnTo>
                  <a:cubicBezTo>
                    <a:pt x="3526409" y="1010031"/>
                    <a:pt x="3448431" y="1088009"/>
                    <a:pt x="3352292" y="1088009"/>
                  </a:cubicBezTo>
                  <a:lnTo>
                    <a:pt x="174117" y="1088009"/>
                  </a:lnTo>
                  <a:cubicBezTo>
                    <a:pt x="77978" y="1088009"/>
                    <a:pt x="0" y="1010031"/>
                    <a:pt x="0" y="913892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558176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9525"/>
              <a:ext cx="3526371" cy="109749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400"/>
                </a:lnSpc>
              </a:pPr>
              <a:r>
                <a:rPr lang="en-US" sz="2000" b="true">
                  <a:solidFill>
                    <a:srgbClr val="558176"/>
                  </a:solidFill>
                  <a:latin typeface="Open Sans 2 Bold"/>
                  <a:ea typeface="Open Sans 2 Bold"/>
                  <a:cs typeface="Open Sans 2 Bold"/>
                  <a:sym typeface="Open Sans 2 Bold"/>
                </a:rPr>
                <a:t>CADASTRADO</a:t>
              </a:r>
            </a:p>
          </p:txBody>
        </p:sp>
      </p:grpSp>
      <p:sp>
        <p:nvSpPr>
          <p:cNvPr name="AutoShape 25" id="25"/>
          <p:cNvSpPr/>
          <p:nvPr/>
        </p:nvSpPr>
        <p:spPr>
          <a:xfrm>
            <a:off x="4365624" y="4560573"/>
            <a:ext cx="387349" cy="31751"/>
          </a:xfrm>
          <a:prstGeom prst="line">
            <a:avLst/>
          </a:prstGeom>
          <a:ln cap="rnd" w="28575">
            <a:solidFill>
              <a:srgbClr val="558176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26" id="26"/>
          <p:cNvGrpSpPr/>
          <p:nvPr/>
        </p:nvGrpSpPr>
        <p:grpSpPr>
          <a:xfrm rot="0">
            <a:off x="4559303" y="3141355"/>
            <a:ext cx="3073403" cy="685800"/>
            <a:chOff x="0" y="0"/>
            <a:chExt cx="4097871" cy="9144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4097867" cy="914400"/>
            </a:xfrm>
            <a:custGeom>
              <a:avLst/>
              <a:gdLst/>
              <a:ahLst/>
              <a:cxnLst/>
              <a:rect r="r" b="b" t="t" l="l"/>
              <a:pathLst>
                <a:path h="914400" w="4097867">
                  <a:moveTo>
                    <a:pt x="0" y="0"/>
                  </a:moveTo>
                  <a:lnTo>
                    <a:pt x="4097867" y="0"/>
                  </a:lnTo>
                  <a:lnTo>
                    <a:pt x="4097867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12">
                <a:alphaModFix amt="0"/>
              </a:blip>
              <a:stretch>
                <a:fillRect l="0" t="-37321" r="0" b="-37321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9525"/>
              <a:ext cx="4097871" cy="923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b="true">
                  <a:solidFill>
                    <a:srgbClr val="558176"/>
                  </a:solidFill>
                  <a:latin typeface="Open Sans 2 Bold"/>
                  <a:ea typeface="Open Sans 2 Bold"/>
                  <a:cs typeface="Open Sans 2 Bold"/>
                  <a:sym typeface="Open Sans 2 Bold"/>
                </a:rPr>
                <a:t>record_processing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4E6E65"/>
                  </a:solidFill>
                  <a:latin typeface="Open Sans 2"/>
                  <a:ea typeface="Open Sans 2"/>
                  <a:cs typeface="Open Sans 2"/>
                  <a:sym typeface="Open Sans 2"/>
                </a:rPr>
                <a:t>Beneficiador designado</a:t>
              </a:r>
            </a:p>
          </p:txBody>
        </p:sp>
      </p:grpSp>
      <p:sp>
        <p:nvSpPr>
          <p:cNvPr name="AutoShape 29" id="29"/>
          <p:cNvSpPr/>
          <p:nvPr/>
        </p:nvSpPr>
        <p:spPr>
          <a:xfrm>
            <a:off x="6084891" y="3866839"/>
            <a:ext cx="22227" cy="288925"/>
          </a:xfrm>
          <a:prstGeom prst="line">
            <a:avLst/>
          </a:prstGeom>
          <a:ln cap="rnd" w="19050">
            <a:solidFill>
              <a:srgbClr val="9DB8A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0" id="30"/>
          <p:cNvGrpSpPr/>
          <p:nvPr/>
        </p:nvGrpSpPr>
        <p:grpSpPr>
          <a:xfrm rot="0">
            <a:off x="4773616" y="4168464"/>
            <a:ext cx="2644778" cy="815978"/>
            <a:chOff x="0" y="0"/>
            <a:chExt cx="3526371" cy="1087971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3526409" cy="1088009"/>
            </a:xfrm>
            <a:custGeom>
              <a:avLst/>
              <a:gdLst/>
              <a:ahLst/>
              <a:cxnLst/>
              <a:rect r="r" b="b" t="t" l="l"/>
              <a:pathLst>
                <a:path h="1088009" w="3526409">
                  <a:moveTo>
                    <a:pt x="0" y="174117"/>
                  </a:moveTo>
                  <a:cubicBezTo>
                    <a:pt x="0" y="77978"/>
                    <a:pt x="77978" y="0"/>
                    <a:pt x="174117" y="0"/>
                  </a:cubicBezTo>
                  <a:lnTo>
                    <a:pt x="3352292" y="0"/>
                  </a:lnTo>
                  <a:cubicBezTo>
                    <a:pt x="3448431" y="0"/>
                    <a:pt x="3526409" y="77978"/>
                    <a:pt x="3526409" y="174117"/>
                  </a:cubicBezTo>
                  <a:lnTo>
                    <a:pt x="3526409" y="913892"/>
                  </a:lnTo>
                  <a:cubicBezTo>
                    <a:pt x="3526409" y="1010031"/>
                    <a:pt x="3448431" y="1088009"/>
                    <a:pt x="3352292" y="1088009"/>
                  </a:cubicBezTo>
                  <a:lnTo>
                    <a:pt x="174117" y="1088009"/>
                  </a:lnTo>
                  <a:cubicBezTo>
                    <a:pt x="77978" y="1088009"/>
                    <a:pt x="0" y="1010031"/>
                    <a:pt x="0" y="913892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558176"/>
              </a:solidFill>
              <a:prstDash val="solid"/>
              <a:miter/>
            </a:ln>
          </p:spPr>
        </p:sp>
        <p:sp>
          <p:nvSpPr>
            <p:cNvPr name="TextBox 32" id="32"/>
            <p:cNvSpPr txBox="true"/>
            <p:nvPr/>
          </p:nvSpPr>
          <p:spPr>
            <a:xfrm>
              <a:off x="0" y="-9525"/>
              <a:ext cx="3526371" cy="109749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400"/>
                </a:lnSpc>
              </a:pPr>
              <a:r>
                <a:rPr lang="en-US" sz="2000" b="true">
                  <a:solidFill>
                    <a:srgbClr val="558176"/>
                  </a:solidFill>
                  <a:latin typeface="Open Sans 2 Bold"/>
                  <a:ea typeface="Open Sans 2 Bold"/>
                  <a:cs typeface="Open Sans 2 Bold"/>
                  <a:sym typeface="Open Sans 2 Bold"/>
                </a:rPr>
                <a:t>BENEFICIADO</a:t>
              </a:r>
            </a:p>
          </p:txBody>
        </p:sp>
      </p:grpSp>
      <p:sp>
        <p:nvSpPr>
          <p:cNvPr name="AutoShape 33" id="33"/>
          <p:cNvSpPr/>
          <p:nvPr/>
        </p:nvSpPr>
        <p:spPr>
          <a:xfrm>
            <a:off x="7439027" y="4560573"/>
            <a:ext cx="387349" cy="31751"/>
          </a:xfrm>
          <a:prstGeom prst="line">
            <a:avLst/>
          </a:prstGeom>
          <a:ln cap="rnd" w="28575">
            <a:solidFill>
              <a:srgbClr val="558176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34" id="34"/>
          <p:cNvGrpSpPr/>
          <p:nvPr/>
        </p:nvGrpSpPr>
        <p:grpSpPr>
          <a:xfrm rot="0">
            <a:off x="7632697" y="3141355"/>
            <a:ext cx="3073403" cy="685800"/>
            <a:chOff x="0" y="0"/>
            <a:chExt cx="4097871" cy="9144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4097867" cy="914400"/>
            </a:xfrm>
            <a:custGeom>
              <a:avLst/>
              <a:gdLst/>
              <a:ahLst/>
              <a:cxnLst/>
              <a:rect r="r" b="b" t="t" l="l"/>
              <a:pathLst>
                <a:path h="914400" w="4097867">
                  <a:moveTo>
                    <a:pt x="0" y="0"/>
                  </a:moveTo>
                  <a:lnTo>
                    <a:pt x="4097867" y="0"/>
                  </a:lnTo>
                  <a:lnTo>
                    <a:pt x="4097867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12">
                <a:alphaModFix amt="0"/>
              </a:blip>
              <a:stretch>
                <a:fillRect l="0" t="-37321" r="0" b="-37321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9525"/>
              <a:ext cx="4097871" cy="923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b="true">
                  <a:solidFill>
                    <a:srgbClr val="558176"/>
                  </a:solidFill>
                  <a:latin typeface="Open Sans 2 Bold"/>
                  <a:ea typeface="Open Sans 2 Bold"/>
                  <a:cs typeface="Open Sans 2 Bold"/>
                  <a:sym typeface="Open Sans 2 Bold"/>
                </a:rPr>
                <a:t>start_transport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4E6E65"/>
                  </a:solidFill>
                  <a:latin typeface="Open Sans 2"/>
                  <a:ea typeface="Open Sans 2"/>
                  <a:cs typeface="Open Sans 2"/>
                  <a:sym typeface="Open Sans 2"/>
                </a:rPr>
                <a:t>Transportador designado</a:t>
              </a:r>
            </a:p>
          </p:txBody>
        </p:sp>
      </p:grpSp>
      <p:sp>
        <p:nvSpPr>
          <p:cNvPr name="AutoShape 37" id="37"/>
          <p:cNvSpPr/>
          <p:nvPr/>
        </p:nvSpPr>
        <p:spPr>
          <a:xfrm>
            <a:off x="9158285" y="3866839"/>
            <a:ext cx="22227" cy="288925"/>
          </a:xfrm>
          <a:prstGeom prst="line">
            <a:avLst/>
          </a:prstGeom>
          <a:ln cap="rnd" w="19050">
            <a:solidFill>
              <a:srgbClr val="9DB8A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8" id="38"/>
          <p:cNvGrpSpPr/>
          <p:nvPr/>
        </p:nvGrpSpPr>
        <p:grpSpPr>
          <a:xfrm rot="0">
            <a:off x="7847009" y="4168464"/>
            <a:ext cx="2644778" cy="815978"/>
            <a:chOff x="0" y="0"/>
            <a:chExt cx="3526371" cy="1087971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3526409" cy="1088009"/>
            </a:xfrm>
            <a:custGeom>
              <a:avLst/>
              <a:gdLst/>
              <a:ahLst/>
              <a:cxnLst/>
              <a:rect r="r" b="b" t="t" l="l"/>
              <a:pathLst>
                <a:path h="1088009" w="3526409">
                  <a:moveTo>
                    <a:pt x="0" y="174117"/>
                  </a:moveTo>
                  <a:cubicBezTo>
                    <a:pt x="0" y="77978"/>
                    <a:pt x="77978" y="0"/>
                    <a:pt x="174117" y="0"/>
                  </a:cubicBezTo>
                  <a:lnTo>
                    <a:pt x="3352292" y="0"/>
                  </a:lnTo>
                  <a:cubicBezTo>
                    <a:pt x="3448431" y="0"/>
                    <a:pt x="3526409" y="77978"/>
                    <a:pt x="3526409" y="174117"/>
                  </a:cubicBezTo>
                  <a:lnTo>
                    <a:pt x="3526409" y="913892"/>
                  </a:lnTo>
                  <a:cubicBezTo>
                    <a:pt x="3526409" y="1010031"/>
                    <a:pt x="3448431" y="1088009"/>
                    <a:pt x="3352292" y="1088009"/>
                  </a:cubicBezTo>
                  <a:lnTo>
                    <a:pt x="174117" y="1088009"/>
                  </a:lnTo>
                  <a:cubicBezTo>
                    <a:pt x="77978" y="1088009"/>
                    <a:pt x="0" y="1010031"/>
                    <a:pt x="0" y="913892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558176"/>
              </a:solidFill>
              <a:prstDash val="solid"/>
              <a:miter/>
            </a:ln>
          </p:spPr>
        </p:sp>
        <p:sp>
          <p:nvSpPr>
            <p:cNvPr name="TextBox 40" id="40"/>
            <p:cNvSpPr txBox="true"/>
            <p:nvPr/>
          </p:nvSpPr>
          <p:spPr>
            <a:xfrm>
              <a:off x="0" y="-9525"/>
              <a:ext cx="3526371" cy="109749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400"/>
                </a:lnSpc>
              </a:pPr>
              <a:r>
                <a:rPr lang="en-US" sz="2000" b="true">
                  <a:solidFill>
                    <a:srgbClr val="558176"/>
                  </a:solidFill>
                  <a:latin typeface="Open Sans 2 Bold"/>
                  <a:ea typeface="Open Sans 2 Bold"/>
                  <a:cs typeface="Open Sans 2 Bold"/>
                  <a:sym typeface="Open Sans 2 Bold"/>
                </a:rPr>
                <a:t>EM TRANSPORTE</a:t>
              </a:r>
            </a:p>
          </p:txBody>
        </p:sp>
      </p:grpSp>
      <p:sp>
        <p:nvSpPr>
          <p:cNvPr name="AutoShape 41" id="41"/>
          <p:cNvSpPr/>
          <p:nvPr/>
        </p:nvSpPr>
        <p:spPr>
          <a:xfrm>
            <a:off x="10512421" y="4560573"/>
            <a:ext cx="387349" cy="31751"/>
          </a:xfrm>
          <a:prstGeom prst="line">
            <a:avLst/>
          </a:prstGeom>
          <a:ln cap="rnd" w="28575">
            <a:solidFill>
              <a:srgbClr val="558176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42" id="42"/>
          <p:cNvGrpSpPr/>
          <p:nvPr/>
        </p:nvGrpSpPr>
        <p:grpSpPr>
          <a:xfrm rot="0">
            <a:off x="10706100" y="3141355"/>
            <a:ext cx="3073403" cy="685800"/>
            <a:chOff x="0" y="0"/>
            <a:chExt cx="4097871" cy="91440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4097867" cy="914400"/>
            </a:xfrm>
            <a:custGeom>
              <a:avLst/>
              <a:gdLst/>
              <a:ahLst/>
              <a:cxnLst/>
              <a:rect r="r" b="b" t="t" l="l"/>
              <a:pathLst>
                <a:path h="914400" w="4097867">
                  <a:moveTo>
                    <a:pt x="0" y="0"/>
                  </a:moveTo>
                  <a:lnTo>
                    <a:pt x="4097867" y="0"/>
                  </a:lnTo>
                  <a:lnTo>
                    <a:pt x="4097867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12">
                <a:alphaModFix amt="0"/>
              </a:blip>
              <a:stretch>
                <a:fillRect l="0" t="-37321" r="0" b="-37321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9525"/>
              <a:ext cx="4097871" cy="923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b="true">
                  <a:solidFill>
                    <a:srgbClr val="558176"/>
                  </a:solidFill>
                  <a:latin typeface="Open Sans 2 Bold"/>
                  <a:ea typeface="Open Sans 2 Bold"/>
                  <a:cs typeface="Open Sans 2 Bold"/>
                  <a:sym typeface="Open Sans 2 Bold"/>
                </a:rPr>
                <a:t>confirm_delivery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4E6E65"/>
                  </a:solidFill>
                  <a:latin typeface="Open Sans 2"/>
                  <a:ea typeface="Open Sans 2"/>
                  <a:cs typeface="Open Sans 2"/>
                  <a:sym typeface="Open Sans 2"/>
                </a:rPr>
                <a:t>Distribuidor designado</a:t>
              </a:r>
            </a:p>
          </p:txBody>
        </p:sp>
      </p:grpSp>
      <p:sp>
        <p:nvSpPr>
          <p:cNvPr name="AutoShape 45" id="45"/>
          <p:cNvSpPr/>
          <p:nvPr/>
        </p:nvSpPr>
        <p:spPr>
          <a:xfrm>
            <a:off x="12231688" y="3866839"/>
            <a:ext cx="22227" cy="288925"/>
          </a:xfrm>
          <a:prstGeom prst="line">
            <a:avLst/>
          </a:prstGeom>
          <a:ln cap="rnd" w="19050">
            <a:solidFill>
              <a:srgbClr val="9DB8A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6" id="46"/>
          <p:cNvGrpSpPr/>
          <p:nvPr/>
        </p:nvGrpSpPr>
        <p:grpSpPr>
          <a:xfrm rot="0">
            <a:off x="10920412" y="4168464"/>
            <a:ext cx="2644778" cy="815978"/>
            <a:chOff x="0" y="0"/>
            <a:chExt cx="3526371" cy="1087971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3526409" cy="1088009"/>
            </a:xfrm>
            <a:custGeom>
              <a:avLst/>
              <a:gdLst/>
              <a:ahLst/>
              <a:cxnLst/>
              <a:rect r="r" b="b" t="t" l="l"/>
              <a:pathLst>
                <a:path h="1088009" w="3526409">
                  <a:moveTo>
                    <a:pt x="0" y="174117"/>
                  </a:moveTo>
                  <a:cubicBezTo>
                    <a:pt x="0" y="77978"/>
                    <a:pt x="77978" y="0"/>
                    <a:pt x="174117" y="0"/>
                  </a:cubicBezTo>
                  <a:lnTo>
                    <a:pt x="3352292" y="0"/>
                  </a:lnTo>
                  <a:cubicBezTo>
                    <a:pt x="3448431" y="0"/>
                    <a:pt x="3526409" y="77978"/>
                    <a:pt x="3526409" y="174117"/>
                  </a:cubicBezTo>
                  <a:lnTo>
                    <a:pt x="3526409" y="913892"/>
                  </a:lnTo>
                  <a:cubicBezTo>
                    <a:pt x="3526409" y="1010031"/>
                    <a:pt x="3448431" y="1088009"/>
                    <a:pt x="3352292" y="1088009"/>
                  </a:cubicBezTo>
                  <a:lnTo>
                    <a:pt x="174117" y="1088009"/>
                  </a:lnTo>
                  <a:cubicBezTo>
                    <a:pt x="77978" y="1088009"/>
                    <a:pt x="0" y="1010031"/>
                    <a:pt x="0" y="913892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558176"/>
              </a:solidFill>
              <a:prstDash val="solid"/>
              <a:miter/>
            </a:ln>
          </p:spPr>
        </p:sp>
        <p:sp>
          <p:nvSpPr>
            <p:cNvPr name="TextBox 48" id="48"/>
            <p:cNvSpPr txBox="true"/>
            <p:nvPr/>
          </p:nvSpPr>
          <p:spPr>
            <a:xfrm>
              <a:off x="0" y="-9525"/>
              <a:ext cx="3526371" cy="109749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400"/>
                </a:lnSpc>
              </a:pPr>
              <a:r>
                <a:rPr lang="en-US" sz="2000" b="true">
                  <a:solidFill>
                    <a:srgbClr val="558176"/>
                  </a:solidFill>
                  <a:latin typeface="Open Sans 2 Bold"/>
                  <a:ea typeface="Open Sans 2 Bold"/>
                  <a:cs typeface="Open Sans 2 Bold"/>
                  <a:sym typeface="Open Sans 2 Bold"/>
                </a:rPr>
                <a:t>DISTRIBUÍDO</a:t>
              </a:r>
            </a:p>
          </p:txBody>
        </p:sp>
      </p:grpSp>
      <p:sp>
        <p:nvSpPr>
          <p:cNvPr name="AutoShape 49" id="49"/>
          <p:cNvSpPr/>
          <p:nvPr/>
        </p:nvSpPr>
        <p:spPr>
          <a:xfrm>
            <a:off x="13585824" y="4560573"/>
            <a:ext cx="387349" cy="31751"/>
          </a:xfrm>
          <a:prstGeom prst="line">
            <a:avLst/>
          </a:prstGeom>
          <a:ln cap="rnd" w="28575">
            <a:solidFill>
              <a:srgbClr val="558176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50" id="50"/>
          <p:cNvGrpSpPr/>
          <p:nvPr/>
        </p:nvGrpSpPr>
        <p:grpSpPr>
          <a:xfrm rot="0">
            <a:off x="13779503" y="3141355"/>
            <a:ext cx="3073403" cy="685800"/>
            <a:chOff x="0" y="0"/>
            <a:chExt cx="4097871" cy="91440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4097867" cy="914400"/>
            </a:xfrm>
            <a:custGeom>
              <a:avLst/>
              <a:gdLst/>
              <a:ahLst/>
              <a:cxnLst/>
              <a:rect r="r" b="b" t="t" l="l"/>
              <a:pathLst>
                <a:path h="914400" w="4097867">
                  <a:moveTo>
                    <a:pt x="0" y="0"/>
                  </a:moveTo>
                  <a:lnTo>
                    <a:pt x="4097867" y="0"/>
                  </a:lnTo>
                  <a:lnTo>
                    <a:pt x="4097867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12">
                <a:alphaModFix amt="0"/>
              </a:blip>
              <a:stretch>
                <a:fillRect l="0" t="-37321" r="0" b="-37321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9525"/>
              <a:ext cx="4097871" cy="923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b="true">
                  <a:solidFill>
                    <a:srgbClr val="558176"/>
                  </a:solidFill>
                  <a:latin typeface="Open Sans 2 Bold"/>
                  <a:ea typeface="Open Sans 2 Bold"/>
                  <a:cs typeface="Open Sans 2 Bold"/>
                  <a:sym typeface="Open Sans 2 Bold"/>
                </a:rPr>
                <a:t>finalize_lot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4E6E65"/>
                  </a:solidFill>
                  <a:latin typeface="Open Sans 2"/>
                  <a:ea typeface="Open Sans 2"/>
                  <a:cs typeface="Open Sans 2"/>
                  <a:sym typeface="Open Sans 2"/>
                </a:rPr>
                <a:t>Distribuidor responsável</a:t>
              </a:r>
            </a:p>
          </p:txBody>
        </p:sp>
      </p:grpSp>
      <p:sp>
        <p:nvSpPr>
          <p:cNvPr name="AutoShape 53" id="53"/>
          <p:cNvSpPr/>
          <p:nvPr/>
        </p:nvSpPr>
        <p:spPr>
          <a:xfrm>
            <a:off x="15305091" y="3866839"/>
            <a:ext cx="22227" cy="288925"/>
          </a:xfrm>
          <a:prstGeom prst="line">
            <a:avLst/>
          </a:prstGeom>
          <a:ln cap="rnd" w="19050">
            <a:solidFill>
              <a:srgbClr val="9DB8A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54" id="54"/>
          <p:cNvGrpSpPr/>
          <p:nvPr/>
        </p:nvGrpSpPr>
        <p:grpSpPr>
          <a:xfrm rot="0">
            <a:off x="13993816" y="4168464"/>
            <a:ext cx="2644778" cy="815978"/>
            <a:chOff x="0" y="0"/>
            <a:chExt cx="3526371" cy="1087971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3526409" cy="1088009"/>
            </a:xfrm>
            <a:custGeom>
              <a:avLst/>
              <a:gdLst/>
              <a:ahLst/>
              <a:cxnLst/>
              <a:rect r="r" b="b" t="t" l="l"/>
              <a:pathLst>
                <a:path h="1088009" w="3526409">
                  <a:moveTo>
                    <a:pt x="0" y="174117"/>
                  </a:moveTo>
                  <a:cubicBezTo>
                    <a:pt x="0" y="77978"/>
                    <a:pt x="77978" y="0"/>
                    <a:pt x="174117" y="0"/>
                  </a:cubicBezTo>
                  <a:lnTo>
                    <a:pt x="3352292" y="0"/>
                  </a:lnTo>
                  <a:cubicBezTo>
                    <a:pt x="3448431" y="0"/>
                    <a:pt x="3526409" y="77978"/>
                    <a:pt x="3526409" y="174117"/>
                  </a:cubicBezTo>
                  <a:lnTo>
                    <a:pt x="3526409" y="913892"/>
                  </a:lnTo>
                  <a:cubicBezTo>
                    <a:pt x="3526409" y="1010031"/>
                    <a:pt x="3448431" y="1088009"/>
                    <a:pt x="3352292" y="1088009"/>
                  </a:cubicBezTo>
                  <a:lnTo>
                    <a:pt x="174117" y="1088009"/>
                  </a:lnTo>
                  <a:cubicBezTo>
                    <a:pt x="77978" y="1088009"/>
                    <a:pt x="0" y="1010031"/>
                    <a:pt x="0" y="913892"/>
                  </a:cubicBezTo>
                  <a:close/>
                </a:path>
              </a:pathLst>
            </a:custGeom>
            <a:solidFill>
              <a:srgbClr val="558176"/>
            </a:solidFill>
            <a:ln w="28575" cap="sq">
              <a:solidFill>
                <a:srgbClr val="558176"/>
              </a:solidFill>
              <a:prstDash val="solid"/>
              <a:miter/>
            </a:ln>
          </p:spPr>
        </p:sp>
        <p:sp>
          <p:nvSpPr>
            <p:cNvPr name="TextBox 56" id="56"/>
            <p:cNvSpPr txBox="true"/>
            <p:nvPr/>
          </p:nvSpPr>
          <p:spPr>
            <a:xfrm>
              <a:off x="0" y="-9525"/>
              <a:ext cx="3526371" cy="109749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400"/>
                </a:lnSpc>
              </a:pPr>
              <a:r>
                <a:rPr lang="en-US" sz="2000" b="true">
                  <a:solidFill>
                    <a:srgbClr val="FFF9ED"/>
                  </a:solidFill>
                  <a:latin typeface="Open Sans 2 Bold"/>
                  <a:ea typeface="Open Sans 2 Bold"/>
                  <a:cs typeface="Open Sans 2 Bold"/>
                  <a:sym typeface="Open Sans 2 Bold"/>
                </a:rPr>
                <a:t>FINALIZADO</a:t>
              </a: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11036303" y="5147948"/>
            <a:ext cx="5588003" cy="431797"/>
            <a:chOff x="0" y="0"/>
            <a:chExt cx="7450671" cy="575729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7450667" cy="575733"/>
            </a:xfrm>
            <a:custGeom>
              <a:avLst/>
              <a:gdLst/>
              <a:ahLst/>
              <a:cxnLst/>
              <a:rect r="r" b="b" t="t" l="l"/>
              <a:pathLst>
                <a:path h="575733" w="7450667">
                  <a:moveTo>
                    <a:pt x="0" y="0"/>
                  </a:moveTo>
                  <a:lnTo>
                    <a:pt x="7450667" y="0"/>
                  </a:lnTo>
                  <a:lnTo>
                    <a:pt x="7450667" y="575733"/>
                  </a:lnTo>
                  <a:lnTo>
                    <a:pt x="0" y="575733"/>
                  </a:lnTo>
                  <a:close/>
                </a:path>
              </a:pathLst>
            </a:custGeom>
            <a:blipFill>
              <a:blip r:embed="rId12">
                <a:alphaModFix amt="0"/>
              </a:blip>
              <a:stretch>
                <a:fillRect l="0" t="-202159" r="0" b="-202159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9525"/>
              <a:ext cx="7450671" cy="56620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C0602A"/>
                  </a:solidFill>
                  <a:latin typeface="Open Sans 2 Bold"/>
                  <a:ea typeface="Open Sans 2 Bold"/>
                  <a:cs typeface="Open Sans 2 Bold"/>
                  <a:sym typeface="Open Sans 2 Bold"/>
                </a:rPr>
                <a:t>Estado final: nenhuma alteração é aceita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1714500" y="5147948"/>
            <a:ext cx="8127997" cy="431797"/>
            <a:chOff x="0" y="0"/>
            <a:chExt cx="10837329" cy="575729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10837333" cy="575733"/>
            </a:xfrm>
            <a:custGeom>
              <a:avLst/>
              <a:gdLst/>
              <a:ahLst/>
              <a:cxnLst/>
              <a:rect r="r" b="b" t="t" l="l"/>
              <a:pathLst>
                <a:path h="575733" w="10837333">
                  <a:moveTo>
                    <a:pt x="0" y="0"/>
                  </a:moveTo>
                  <a:lnTo>
                    <a:pt x="10837333" y="0"/>
                  </a:lnTo>
                  <a:lnTo>
                    <a:pt x="10837333" y="575733"/>
                  </a:lnTo>
                  <a:lnTo>
                    <a:pt x="0" y="575733"/>
                  </a:lnTo>
                  <a:close/>
                </a:path>
              </a:pathLst>
            </a:custGeom>
            <a:blipFill>
              <a:blip r:embed="rId12">
                <a:alphaModFix amt="0"/>
              </a:blip>
              <a:stretch>
                <a:fillRect l="0" t="-316777" r="0" b="-316776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9525"/>
              <a:ext cx="10837329" cy="56620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i="true">
                  <a:solidFill>
                    <a:srgbClr val="4E6E65"/>
                  </a:solidFill>
                  <a:latin typeface="Open Sans 2 Italics"/>
                  <a:ea typeface="Open Sans 2 Italics"/>
                  <a:cs typeface="Open Sans 2 Italics"/>
                  <a:sym typeface="Open Sans 2 Italics"/>
                </a:rPr>
                <a:t>Pular ou repetir etapa gera INVALID_TRANSITION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412581" y="0"/>
            <a:ext cx="4497049" cy="4114800"/>
          </a:xfrm>
          <a:custGeom>
            <a:avLst/>
            <a:gdLst/>
            <a:ahLst/>
            <a:cxnLst/>
            <a:rect r="r" b="b" t="t" l="l"/>
            <a:pathLst>
              <a:path h="4114800" w="4497049">
                <a:moveTo>
                  <a:pt x="0" y="0"/>
                </a:moveTo>
                <a:lnTo>
                  <a:pt x="4497049" y="0"/>
                </a:lnTo>
                <a:lnTo>
                  <a:pt x="449704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092592" y="7514116"/>
            <a:ext cx="4195408" cy="2370405"/>
          </a:xfrm>
          <a:custGeom>
            <a:avLst/>
            <a:gdLst/>
            <a:ahLst/>
            <a:cxnLst/>
            <a:rect r="r" b="b" t="t" l="l"/>
            <a:pathLst>
              <a:path h="2370405" w="4195408">
                <a:moveTo>
                  <a:pt x="0" y="0"/>
                </a:moveTo>
                <a:lnTo>
                  <a:pt x="4195408" y="0"/>
                </a:lnTo>
                <a:lnTo>
                  <a:pt x="4195408" y="2370405"/>
                </a:lnTo>
                <a:lnTo>
                  <a:pt x="0" y="237040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-114472">
            <a:off x="3588969" y="4238047"/>
            <a:ext cx="11103720" cy="16205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176"/>
              </a:lnSpc>
            </a:pPr>
            <a:r>
              <a:rPr lang="en-US" sz="9411">
                <a:solidFill>
                  <a:srgbClr val="558176"/>
                </a:solidFill>
                <a:latin typeface="TOMO Trompa Pro"/>
                <a:ea typeface="TOMO Trompa Pro"/>
                <a:cs typeface="TOMO Trompa Pro"/>
                <a:sym typeface="TOMO Trompa Pro"/>
              </a:rPr>
              <a:t>Demonstração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429272" y="-124376"/>
            <a:ext cx="10979359" cy="10649978"/>
          </a:xfrm>
          <a:custGeom>
            <a:avLst/>
            <a:gdLst/>
            <a:ahLst/>
            <a:cxnLst/>
            <a:rect r="r" b="b" t="t" l="l"/>
            <a:pathLst>
              <a:path h="10649978" w="10979359">
                <a:moveTo>
                  <a:pt x="0" y="0"/>
                </a:moveTo>
                <a:lnTo>
                  <a:pt x="10979359" y="0"/>
                </a:lnTo>
                <a:lnTo>
                  <a:pt x="10979359" y="10649978"/>
                </a:lnTo>
                <a:lnTo>
                  <a:pt x="0" y="106499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-225003">
            <a:off x="1488705" y="1403708"/>
            <a:ext cx="7349877" cy="9573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68"/>
              </a:lnSpc>
            </a:pPr>
            <a:r>
              <a:rPr lang="en-US" sz="5548">
                <a:solidFill>
                  <a:srgbClr val="FFF9ED"/>
                </a:solidFill>
                <a:latin typeface="TOMO Trompa Pro"/>
                <a:ea typeface="TOMO Trompa Pro"/>
                <a:cs typeface="TOMO Trompa Pro"/>
                <a:sym typeface="TOMO Trompa Pro"/>
              </a:rPr>
              <a:t>TESTES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351874" y="4380319"/>
            <a:ext cx="8089802" cy="1579445"/>
          </a:xfrm>
          <a:custGeom>
            <a:avLst/>
            <a:gdLst/>
            <a:ahLst/>
            <a:cxnLst/>
            <a:rect r="r" b="b" t="t" l="l"/>
            <a:pathLst>
              <a:path h="1579445" w="8089802">
                <a:moveTo>
                  <a:pt x="0" y="0"/>
                </a:moveTo>
                <a:lnTo>
                  <a:pt x="8089801" y="0"/>
                </a:lnTo>
                <a:lnTo>
                  <a:pt x="8089801" y="1579445"/>
                </a:lnTo>
                <a:lnTo>
                  <a:pt x="0" y="157944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351874" y="5929722"/>
            <a:ext cx="8089802" cy="1579445"/>
          </a:xfrm>
          <a:custGeom>
            <a:avLst/>
            <a:gdLst/>
            <a:ahLst/>
            <a:cxnLst/>
            <a:rect r="r" b="b" t="t" l="l"/>
            <a:pathLst>
              <a:path h="1579445" w="8089802">
                <a:moveTo>
                  <a:pt x="0" y="0"/>
                </a:moveTo>
                <a:lnTo>
                  <a:pt x="8089801" y="0"/>
                </a:lnTo>
                <a:lnTo>
                  <a:pt x="8089801" y="1579445"/>
                </a:lnTo>
                <a:lnTo>
                  <a:pt x="0" y="157944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351874" y="7507757"/>
            <a:ext cx="8089802" cy="1543650"/>
          </a:xfrm>
          <a:custGeom>
            <a:avLst/>
            <a:gdLst/>
            <a:ahLst/>
            <a:cxnLst/>
            <a:rect r="r" b="b" t="t" l="l"/>
            <a:pathLst>
              <a:path h="1543650" w="8089802">
                <a:moveTo>
                  <a:pt x="0" y="0"/>
                </a:moveTo>
                <a:lnTo>
                  <a:pt x="8089801" y="0"/>
                </a:lnTo>
                <a:lnTo>
                  <a:pt x="8089801" y="1543650"/>
                </a:lnTo>
                <a:lnTo>
                  <a:pt x="0" y="154365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424207" y="3083357"/>
            <a:ext cx="8662911" cy="8805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558176"/>
                </a:solidFill>
                <a:latin typeface="Open Sans 2"/>
                <a:ea typeface="Open Sans 2"/>
                <a:cs typeface="Open Sans 2"/>
                <a:sym typeface="Open Sans 2"/>
              </a:rPr>
              <a:t>251 testes automatizados aprovados, com 97% de cobertura, e 48 cenários documentados: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896675" y="5005502"/>
            <a:ext cx="7213597" cy="431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 b="true">
                <a:solidFill>
                  <a:srgbClr val="558176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16 operações válidas</a:t>
            </a:r>
            <a:r>
              <a:rPr lang="en-US" sz="2300">
                <a:solidFill>
                  <a:srgbClr val="558176"/>
                </a:solidFill>
                <a:latin typeface="Open Sans 2"/>
                <a:ea typeface="Open Sans 2"/>
                <a:cs typeface="Open Sans 2"/>
                <a:sym typeface="Open Sans 2"/>
              </a:rPr>
              <a:t> confirmadas em bloco.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896675" y="6352261"/>
            <a:ext cx="7213597" cy="8368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 b="true">
                <a:solidFill>
                  <a:srgbClr val="558176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27 entradas inválidas ou sem permissão</a:t>
            </a:r>
            <a:r>
              <a:rPr lang="en-US" sz="2300">
                <a:solidFill>
                  <a:srgbClr val="558176"/>
                </a:solidFill>
                <a:latin typeface="Open Sans 2"/>
                <a:ea typeface="Open Sans 2"/>
                <a:cs typeface="Open Sans 2"/>
                <a:sym typeface="Open Sans 2"/>
              </a:rPr>
              <a:t> rejeitadas, sem criar bloco.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896675" y="7899111"/>
            <a:ext cx="7213597" cy="8419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 b="true">
                <a:solidFill>
                  <a:srgbClr val="558176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5 adulterações de bloco</a:t>
            </a:r>
            <a:r>
              <a:rPr lang="en-US" sz="2300">
                <a:solidFill>
                  <a:srgbClr val="558176"/>
                </a:solidFill>
                <a:latin typeface="Open Sans 2"/>
                <a:ea typeface="Open Sans 2"/>
                <a:cs typeface="Open Sans 2"/>
                <a:sym typeface="Open Sans 2"/>
              </a:rPr>
              <a:t> detectadas pela validação da cadeia.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9369346" y="2565749"/>
            <a:ext cx="11555304" cy="6817630"/>
          </a:xfrm>
          <a:custGeom>
            <a:avLst/>
            <a:gdLst/>
            <a:ahLst/>
            <a:cxnLst/>
            <a:rect r="r" b="b" t="t" l="l"/>
            <a:pathLst>
              <a:path h="6817630" w="11555304">
                <a:moveTo>
                  <a:pt x="0" y="0"/>
                </a:moveTo>
                <a:lnTo>
                  <a:pt x="11555304" y="0"/>
                </a:lnTo>
                <a:lnTo>
                  <a:pt x="11555304" y="6817630"/>
                </a:lnTo>
                <a:lnTo>
                  <a:pt x="0" y="68176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-225003">
            <a:off x="1488705" y="1403708"/>
            <a:ext cx="7349877" cy="9573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68"/>
              </a:lnSpc>
            </a:pPr>
            <a:r>
              <a:rPr lang="en-US" sz="5548">
                <a:solidFill>
                  <a:srgbClr val="FFF9ED"/>
                </a:solidFill>
                <a:latin typeface="TOMO Trompa Pro"/>
                <a:ea typeface="TOMO Trompa Pro"/>
                <a:cs typeface="TOMO Trompa Pro"/>
                <a:sym typeface="TOMO Trompa Pro"/>
              </a:rPr>
              <a:t>limitações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228049" y="4408894"/>
            <a:ext cx="8089802" cy="1579445"/>
          </a:xfrm>
          <a:custGeom>
            <a:avLst/>
            <a:gdLst/>
            <a:ahLst/>
            <a:cxnLst/>
            <a:rect r="r" b="b" t="t" l="l"/>
            <a:pathLst>
              <a:path h="1579445" w="8089802">
                <a:moveTo>
                  <a:pt x="0" y="0"/>
                </a:moveTo>
                <a:lnTo>
                  <a:pt x="8089801" y="0"/>
                </a:lnTo>
                <a:lnTo>
                  <a:pt x="8089801" y="1579445"/>
                </a:lnTo>
                <a:lnTo>
                  <a:pt x="0" y="157944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228049" y="5958297"/>
            <a:ext cx="8089802" cy="1579445"/>
          </a:xfrm>
          <a:custGeom>
            <a:avLst/>
            <a:gdLst/>
            <a:ahLst/>
            <a:cxnLst/>
            <a:rect r="r" b="b" t="t" l="l"/>
            <a:pathLst>
              <a:path h="1579445" w="8089802">
                <a:moveTo>
                  <a:pt x="0" y="0"/>
                </a:moveTo>
                <a:lnTo>
                  <a:pt x="8089801" y="0"/>
                </a:lnTo>
                <a:lnTo>
                  <a:pt x="8089801" y="1579445"/>
                </a:lnTo>
                <a:lnTo>
                  <a:pt x="0" y="157944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228049" y="7513882"/>
            <a:ext cx="8089802" cy="1571720"/>
          </a:xfrm>
          <a:custGeom>
            <a:avLst/>
            <a:gdLst/>
            <a:ahLst/>
            <a:cxnLst/>
            <a:rect r="r" b="b" t="t" l="l"/>
            <a:pathLst>
              <a:path h="1571720" w="8089802">
                <a:moveTo>
                  <a:pt x="0" y="0"/>
                </a:moveTo>
                <a:lnTo>
                  <a:pt x="8089801" y="0"/>
                </a:lnTo>
                <a:lnTo>
                  <a:pt x="8089801" y="1571720"/>
                </a:lnTo>
                <a:lnTo>
                  <a:pt x="0" y="157172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300382" y="3111932"/>
            <a:ext cx="8662911" cy="13165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558176"/>
                </a:solidFill>
                <a:latin typeface="Open Sans 2"/>
                <a:ea typeface="Open Sans 2"/>
                <a:cs typeface="Open Sans 2"/>
                <a:sym typeface="Open Sans 2"/>
              </a:rPr>
              <a:t>A blockchain garante que o registro não muda depois de gravado, mas não garante que a informação estava correta na origem.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772850" y="4831432"/>
            <a:ext cx="7213597" cy="8368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 b="true">
                <a:solidFill>
                  <a:srgbClr val="558176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Nó único: </a:t>
            </a:r>
            <a:r>
              <a:rPr lang="en-US" sz="2300">
                <a:solidFill>
                  <a:srgbClr val="558176"/>
                </a:solidFill>
                <a:latin typeface="Open Sans 2"/>
                <a:ea typeface="Open Sans 2"/>
                <a:cs typeface="Open Sans 2"/>
                <a:sym typeface="Open Sans 2"/>
              </a:rPr>
              <a:t>a adulteração é detectada, mas não há outros nós para recusar a versão alterada.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772850" y="6380836"/>
            <a:ext cx="7213597" cy="8368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 b="true">
                <a:solidFill>
                  <a:srgbClr val="558176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Prova de trabalho didática: </a:t>
            </a:r>
            <a:r>
              <a:rPr lang="en-US" sz="2300">
                <a:solidFill>
                  <a:srgbClr val="558176"/>
                </a:solidFill>
                <a:latin typeface="Open Sans 2"/>
                <a:ea typeface="Open Sans 2"/>
                <a:cs typeface="Open Sans 2"/>
                <a:sym typeface="Open Sans 2"/>
              </a:rPr>
              <a:t>a dificuldade é baixa para a demonstração rodar rápido.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772850" y="7930229"/>
            <a:ext cx="7213597" cy="8368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 b="true">
                <a:solidFill>
                  <a:srgbClr val="558176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Carteiras locais: </a:t>
            </a:r>
            <a:r>
              <a:rPr lang="en-US" sz="2300">
                <a:solidFill>
                  <a:srgbClr val="558176"/>
                </a:solidFill>
                <a:latin typeface="Open Sans 2"/>
                <a:ea typeface="Open Sans 2"/>
                <a:cs typeface="Open Sans 2"/>
                <a:sym typeface="Open Sans 2"/>
              </a:rPr>
              <a:t>as chaves de demonstração ficam no gateway, e não em uma carteira externa.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-312630">
            <a:off x="1277158" y="2015925"/>
            <a:ext cx="10236084" cy="9573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68"/>
              </a:lnSpc>
            </a:pPr>
            <a:r>
              <a:rPr lang="en-US" sz="5548">
                <a:solidFill>
                  <a:srgbClr val="FFF9ED"/>
                </a:solidFill>
                <a:latin typeface="TOMO Trompa Pro"/>
                <a:ea typeface="TOMO Trompa Pro"/>
                <a:cs typeface="TOMO Trompa Pro"/>
                <a:sym typeface="TOMO Trompa Pro"/>
              </a:rPr>
              <a:t>conclusão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302180">
            <a:off x="10862814" y="-1807024"/>
            <a:ext cx="3230032" cy="3262659"/>
          </a:xfrm>
          <a:custGeom>
            <a:avLst/>
            <a:gdLst/>
            <a:ahLst/>
            <a:cxnLst/>
            <a:rect r="r" b="b" t="t" l="l"/>
            <a:pathLst>
              <a:path h="3262659" w="3230032">
                <a:moveTo>
                  <a:pt x="0" y="0"/>
                </a:moveTo>
                <a:lnTo>
                  <a:pt x="3230032" y="0"/>
                </a:lnTo>
                <a:lnTo>
                  <a:pt x="3230032" y="3262658"/>
                </a:lnTo>
                <a:lnTo>
                  <a:pt x="0" y="326265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302180">
            <a:off x="-830381" y="-1246943"/>
            <a:ext cx="2578973" cy="2553184"/>
          </a:xfrm>
          <a:custGeom>
            <a:avLst/>
            <a:gdLst/>
            <a:ahLst/>
            <a:cxnLst/>
            <a:rect r="r" b="b" t="t" l="l"/>
            <a:pathLst>
              <a:path h="2553184" w="2578973">
                <a:moveTo>
                  <a:pt x="0" y="0"/>
                </a:moveTo>
                <a:lnTo>
                  <a:pt x="2578974" y="0"/>
                </a:lnTo>
                <a:lnTo>
                  <a:pt x="2578974" y="2553184"/>
                </a:lnTo>
                <a:lnTo>
                  <a:pt x="0" y="255318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2375853">
            <a:off x="-1822506" y="8877535"/>
            <a:ext cx="2825322" cy="3693231"/>
          </a:xfrm>
          <a:custGeom>
            <a:avLst/>
            <a:gdLst/>
            <a:ahLst/>
            <a:cxnLst/>
            <a:rect r="r" b="b" t="t" l="l"/>
            <a:pathLst>
              <a:path h="3693231" w="2825322">
                <a:moveTo>
                  <a:pt x="0" y="0"/>
                </a:moveTo>
                <a:lnTo>
                  <a:pt x="2825322" y="0"/>
                </a:lnTo>
                <a:lnTo>
                  <a:pt x="2825322" y="3693232"/>
                </a:lnTo>
                <a:lnTo>
                  <a:pt x="0" y="369323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302180">
            <a:off x="16066041" y="-1706009"/>
            <a:ext cx="3926905" cy="3494945"/>
          </a:xfrm>
          <a:custGeom>
            <a:avLst/>
            <a:gdLst/>
            <a:ahLst/>
            <a:cxnLst/>
            <a:rect r="r" b="b" t="t" l="l"/>
            <a:pathLst>
              <a:path h="3494945" w="3926905">
                <a:moveTo>
                  <a:pt x="0" y="0"/>
                </a:moveTo>
                <a:lnTo>
                  <a:pt x="3926904" y="0"/>
                </a:lnTo>
                <a:lnTo>
                  <a:pt x="3926904" y="3494946"/>
                </a:lnTo>
                <a:lnTo>
                  <a:pt x="0" y="349494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60000">
            <a:off x="1224616" y="3596725"/>
            <a:ext cx="9906000" cy="8921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80"/>
              </a:lnSpc>
            </a:pPr>
            <a:r>
              <a:rPr lang="en-US" sz="2799">
                <a:solidFill>
                  <a:srgbClr val="558176"/>
                </a:solidFill>
                <a:latin typeface="Bryndan Write"/>
                <a:ea typeface="Bryndan Write"/>
                <a:cs typeface="Bryndan Write"/>
                <a:sym typeface="Bryndan Write"/>
              </a:rPr>
              <a:t>Histórico do lote verificável, do produtor ao consumidor</a:t>
            </a:r>
          </a:p>
        </p:txBody>
      </p:sp>
      <p:sp>
        <p:nvSpPr>
          <p:cNvPr name="TextBox 8" id="8"/>
          <p:cNvSpPr txBox="true"/>
          <p:nvPr/>
        </p:nvSpPr>
        <p:spPr>
          <a:xfrm rot="-90000">
            <a:off x="1219006" y="4866746"/>
            <a:ext cx="9906000" cy="8921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80"/>
              </a:lnSpc>
            </a:pPr>
            <a:r>
              <a:rPr lang="en-US" sz="2799">
                <a:solidFill>
                  <a:srgbClr val="558176"/>
                </a:solidFill>
                <a:latin typeface="Bryndan Write"/>
                <a:ea typeface="Bryndan Write"/>
                <a:cs typeface="Bryndan Write"/>
                <a:sym typeface="Bryndan Write"/>
              </a:rPr>
              <a:t>Regras de negócio aplicadas antes de gravar</a:t>
            </a:r>
          </a:p>
        </p:txBody>
      </p:sp>
      <p:sp>
        <p:nvSpPr>
          <p:cNvPr name="TextBox 9" id="9"/>
          <p:cNvSpPr txBox="true"/>
          <p:nvPr/>
        </p:nvSpPr>
        <p:spPr>
          <a:xfrm rot="-60000">
            <a:off x="1220128" y="6136729"/>
            <a:ext cx="9906000" cy="8921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80"/>
              </a:lnSpc>
            </a:pPr>
            <a:r>
              <a:rPr lang="en-US" sz="2799">
                <a:solidFill>
                  <a:srgbClr val="558176"/>
                </a:solidFill>
                <a:latin typeface="Bryndan Write"/>
                <a:ea typeface="Bryndan Write"/>
                <a:cs typeface="Bryndan Write"/>
                <a:sym typeface="Bryndan Write"/>
              </a:rPr>
              <a:t>Adulteração detectada pela validação da cadeia</a:t>
            </a:r>
          </a:p>
        </p:txBody>
      </p:sp>
      <p:sp>
        <p:nvSpPr>
          <p:cNvPr name="TextBox 10" id="10"/>
          <p:cNvSpPr txBox="true"/>
          <p:nvPr/>
        </p:nvSpPr>
        <p:spPr>
          <a:xfrm rot="90000">
            <a:off x="1225738" y="7406749"/>
            <a:ext cx="9906000" cy="8921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80"/>
              </a:lnSpc>
            </a:pPr>
            <a:r>
              <a:rPr lang="en-US" sz="2799">
                <a:solidFill>
                  <a:srgbClr val="558176"/>
                </a:solidFill>
                <a:latin typeface="Bryndan Write"/>
                <a:ea typeface="Bryndan Write"/>
                <a:cs typeface="Bryndan Write"/>
                <a:sym typeface="Bryndan Write"/>
              </a:rPr>
              <a:t>Próximos passos: rede com vários nós e carteira externa</a:t>
            </a:r>
          </a:p>
        </p:txBody>
      </p:sp>
      <p:grpSp>
        <p:nvGrpSpPr>
          <p:cNvPr name="Group 11" id="11"/>
          <p:cNvGrpSpPr/>
          <p:nvPr/>
        </p:nvGrpSpPr>
        <p:grpSpPr>
          <a:xfrm rot="2375880">
            <a:off x="-1870129" y="8921419"/>
            <a:ext cx="2825325" cy="3693233"/>
            <a:chOff x="0" y="0"/>
            <a:chExt cx="3767099" cy="492431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3767074" cy="4924298"/>
            </a:xfrm>
            <a:custGeom>
              <a:avLst/>
              <a:gdLst/>
              <a:ahLst/>
              <a:cxnLst/>
              <a:rect r="r" b="b" t="t" l="l"/>
              <a:pathLst>
                <a:path h="4924298" w="3767074">
                  <a:moveTo>
                    <a:pt x="0" y="0"/>
                  </a:moveTo>
                  <a:lnTo>
                    <a:pt x="3767074" y="0"/>
                  </a:lnTo>
                  <a:lnTo>
                    <a:pt x="3767074" y="4924298"/>
                  </a:lnTo>
                  <a:lnTo>
                    <a:pt x="0" y="49242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C4CC"/>
            </a:solidFill>
          </p:spPr>
        </p:sp>
      </p:grpSp>
      <p:sp>
        <p:nvSpPr>
          <p:cNvPr name="Freeform 13" id="13"/>
          <p:cNvSpPr/>
          <p:nvPr/>
        </p:nvSpPr>
        <p:spPr>
          <a:xfrm flipH="false" flipV="false" rot="0">
            <a:off x="10477638" y="-2438837"/>
            <a:ext cx="12714015" cy="13313105"/>
          </a:xfrm>
          <a:custGeom>
            <a:avLst/>
            <a:gdLst/>
            <a:ahLst/>
            <a:cxnLst/>
            <a:rect r="r" b="b" t="t" l="l"/>
            <a:pathLst>
              <a:path h="13313105" w="12714015">
                <a:moveTo>
                  <a:pt x="0" y="0"/>
                </a:moveTo>
                <a:lnTo>
                  <a:pt x="12714015" y="0"/>
                </a:lnTo>
                <a:lnTo>
                  <a:pt x="12714015" y="13313105"/>
                </a:lnTo>
                <a:lnTo>
                  <a:pt x="0" y="13313105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96AF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243240" y="3822418"/>
            <a:ext cx="9801520" cy="4114733"/>
            <a:chOff x="0" y="0"/>
            <a:chExt cx="2581470" cy="108371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581470" cy="1083716"/>
            </a:xfrm>
            <a:custGeom>
              <a:avLst/>
              <a:gdLst/>
              <a:ahLst/>
              <a:cxnLst/>
              <a:rect r="r" b="b" t="t" l="l"/>
              <a:pathLst>
                <a:path h="1083716" w="2581470">
                  <a:moveTo>
                    <a:pt x="40283" y="0"/>
                  </a:moveTo>
                  <a:lnTo>
                    <a:pt x="2541187" y="0"/>
                  </a:lnTo>
                  <a:cubicBezTo>
                    <a:pt x="2563435" y="0"/>
                    <a:pt x="2581470" y="18035"/>
                    <a:pt x="2581470" y="40283"/>
                  </a:cubicBezTo>
                  <a:lnTo>
                    <a:pt x="2581470" y="1043432"/>
                  </a:lnTo>
                  <a:cubicBezTo>
                    <a:pt x="2581470" y="1054116"/>
                    <a:pt x="2577226" y="1064362"/>
                    <a:pt x="2569672" y="1071917"/>
                  </a:cubicBezTo>
                  <a:cubicBezTo>
                    <a:pt x="2562117" y="1079472"/>
                    <a:pt x="2551871" y="1083716"/>
                    <a:pt x="2541187" y="1083716"/>
                  </a:cubicBezTo>
                  <a:lnTo>
                    <a:pt x="40283" y="1083716"/>
                  </a:lnTo>
                  <a:cubicBezTo>
                    <a:pt x="18035" y="1083716"/>
                    <a:pt x="0" y="1065680"/>
                    <a:pt x="0" y="1043432"/>
                  </a:cubicBezTo>
                  <a:lnTo>
                    <a:pt x="0" y="40283"/>
                  </a:lnTo>
                  <a:cubicBezTo>
                    <a:pt x="0" y="18035"/>
                    <a:pt x="18035" y="0"/>
                    <a:pt x="40283" y="0"/>
                  </a:cubicBezTo>
                  <a:close/>
                </a:path>
              </a:pathLst>
            </a:custGeom>
            <a:solidFill>
              <a:srgbClr val="FFF9ED"/>
            </a:solidFill>
            <a:ln cap="rnd">
              <a:noFill/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76200"/>
              <a:ext cx="2581470" cy="115991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93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-114472">
            <a:off x="5205162" y="4214392"/>
            <a:ext cx="7873869" cy="19355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768"/>
              </a:lnSpc>
            </a:pPr>
            <a:r>
              <a:rPr lang="en-US" sz="5548">
                <a:solidFill>
                  <a:srgbClr val="558176"/>
                </a:solidFill>
                <a:latin typeface="TOMO Trompa Pro"/>
                <a:ea typeface="TOMO Trompa Pro"/>
                <a:cs typeface="TOMO Trompa Pro"/>
                <a:sym typeface="TOMO Trompa Pro"/>
              </a:rPr>
              <a:t>obrigado!</a:t>
            </a:r>
          </a:p>
          <a:p>
            <a:pPr algn="ctr">
              <a:lnSpc>
                <a:spcPts val="7768"/>
              </a:lnSpc>
            </a:pPr>
            <a:r>
              <a:rPr lang="en-US" sz="5548">
                <a:solidFill>
                  <a:srgbClr val="558176"/>
                </a:solidFill>
                <a:latin typeface="TOMO Trompa Pro"/>
                <a:ea typeface="TOMO Trompa Pro"/>
                <a:cs typeface="TOMO Trompa Pro"/>
                <a:sym typeface="TOMO Trompa Pro"/>
              </a:rPr>
              <a:t>perguntas?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2073672">
            <a:off x="4245720" y="-1535435"/>
            <a:ext cx="2825322" cy="3693231"/>
          </a:xfrm>
          <a:custGeom>
            <a:avLst/>
            <a:gdLst/>
            <a:ahLst/>
            <a:cxnLst/>
            <a:rect r="r" b="b" t="t" l="l"/>
            <a:pathLst>
              <a:path h="3693231" w="2825322">
                <a:moveTo>
                  <a:pt x="0" y="0"/>
                </a:moveTo>
                <a:lnTo>
                  <a:pt x="2825322" y="0"/>
                </a:lnTo>
                <a:lnTo>
                  <a:pt x="2825322" y="3693231"/>
                </a:lnTo>
                <a:lnTo>
                  <a:pt x="0" y="36932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-1676794">
            <a:off x="2349748" y="8330042"/>
            <a:ext cx="2825322" cy="3693231"/>
          </a:xfrm>
          <a:custGeom>
            <a:avLst/>
            <a:gdLst/>
            <a:ahLst/>
            <a:cxnLst/>
            <a:rect r="r" b="b" t="t" l="l"/>
            <a:pathLst>
              <a:path h="3693231" w="2825322">
                <a:moveTo>
                  <a:pt x="0" y="0"/>
                </a:moveTo>
                <a:lnTo>
                  <a:pt x="2825323" y="0"/>
                </a:lnTo>
                <a:lnTo>
                  <a:pt x="2825323" y="3693232"/>
                </a:lnTo>
                <a:lnTo>
                  <a:pt x="0" y="369323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6738416" y="1782453"/>
            <a:ext cx="3926905" cy="3494945"/>
          </a:xfrm>
          <a:custGeom>
            <a:avLst/>
            <a:gdLst/>
            <a:ahLst/>
            <a:cxnLst/>
            <a:rect r="r" b="b" t="t" l="l"/>
            <a:pathLst>
              <a:path h="3494945" w="3926905">
                <a:moveTo>
                  <a:pt x="0" y="0"/>
                </a:moveTo>
                <a:lnTo>
                  <a:pt x="3926904" y="0"/>
                </a:lnTo>
                <a:lnTo>
                  <a:pt x="3926904" y="3494945"/>
                </a:lnTo>
                <a:lnTo>
                  <a:pt x="0" y="349494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2721527" y="8273745"/>
            <a:ext cx="3926905" cy="3494945"/>
          </a:xfrm>
          <a:custGeom>
            <a:avLst/>
            <a:gdLst/>
            <a:ahLst/>
            <a:cxnLst/>
            <a:rect r="r" b="b" t="t" l="l"/>
            <a:pathLst>
              <a:path h="3494945" w="3926905">
                <a:moveTo>
                  <a:pt x="0" y="0"/>
                </a:moveTo>
                <a:lnTo>
                  <a:pt x="3926905" y="0"/>
                </a:lnTo>
                <a:lnTo>
                  <a:pt x="3926905" y="3494945"/>
                </a:lnTo>
                <a:lnTo>
                  <a:pt x="0" y="349494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2429744" y="-1480206"/>
            <a:ext cx="3230032" cy="3262659"/>
          </a:xfrm>
          <a:custGeom>
            <a:avLst/>
            <a:gdLst/>
            <a:ahLst/>
            <a:cxnLst/>
            <a:rect r="r" b="b" t="t" l="l"/>
            <a:pathLst>
              <a:path h="3262659" w="3230032">
                <a:moveTo>
                  <a:pt x="0" y="0"/>
                </a:moveTo>
                <a:lnTo>
                  <a:pt x="3230032" y="0"/>
                </a:lnTo>
                <a:lnTo>
                  <a:pt x="3230032" y="3262659"/>
                </a:lnTo>
                <a:lnTo>
                  <a:pt x="0" y="326265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-1276290" y="2368948"/>
            <a:ext cx="2578973" cy="2553184"/>
          </a:xfrm>
          <a:custGeom>
            <a:avLst/>
            <a:gdLst/>
            <a:ahLst/>
            <a:cxnLst/>
            <a:rect r="r" b="b" t="t" l="l"/>
            <a:pathLst>
              <a:path h="2553184" w="2578973">
                <a:moveTo>
                  <a:pt x="0" y="0"/>
                </a:moveTo>
                <a:lnTo>
                  <a:pt x="2578973" y="0"/>
                </a:lnTo>
                <a:lnTo>
                  <a:pt x="2578973" y="2553184"/>
                </a:lnTo>
                <a:lnTo>
                  <a:pt x="0" y="255318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4876800" y="6804022"/>
            <a:ext cx="8521703" cy="3598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>
                <a:solidFill>
                  <a:srgbClr val="558176"/>
                </a:solidFill>
                <a:latin typeface="Open Sans 2"/>
                <a:ea typeface="Open Sans 2"/>
                <a:cs typeface="Open Sans 2"/>
                <a:sym typeface="Open Sans 2"/>
              </a:rPr>
              <a:t>github.com/JulianaBallin/EcoOrigem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DAHWVdSf4Ms</dc:identifier>
  <dcterms:modified xsi:type="dcterms:W3CDTF">2011-08-01T06:04:30Z</dcterms:modified>
  <cp:revision>1</cp:revision>
  <dc:title>EcoOrigem</dc:title>
</cp:coreProperties>
</file>