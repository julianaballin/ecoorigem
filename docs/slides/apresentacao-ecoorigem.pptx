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Cenários</c:v>
                </c:pt>
              </c:strCache>
            </c:strRef>
          </c:tx>
          <c:spPr>
            <a:solidFill>
              <a:srgbClr val="17693D"/>
            </a:solidFill>
          </c:spPr>
          <c:cat>
            <c:strRef>
              <c:f>Sheet1!$A$2:$A$4</c:f>
              <c:strCache>
                <c:ptCount val="3"/>
                <c:pt idx="0">
                  <c:v>Operações válidas</c:v>
                </c:pt>
                <c:pt idx="1">
                  <c:v>Entradas inválidas ou sem permissão</c:v>
                </c:pt>
                <c:pt idx="2">
                  <c:v>Integridade da cadeia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27</c:v>
                </c:pt>
                <c:pt idx="2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2DECE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61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Abertura, 10 segundos. Apresentar o nome do projeto e a equipe. Sugestão de fala: 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total do bloco 1: 2 minutos, junto com o próximo slide. Problema: os registros ficam separados em cada organização e ninguém prova qual é o verdadeiro. Objetivo: registrar cada etapa de forma verificável, com regras. Sugestão de fala: 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um banco de dados centralizado com a blockchain. Ressalvar que blockchain garante que o registro não muda depois de gravado, não que ele seja verdadeiro na origem. Sugestão de fala: 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2: 2 minutos, junto com o próximo slide. Mostrar o caminho de uma operação: interface, gateway com carteira, nó, contrato e cadeia. Relacionar com o modelo de DApp da Aula 01. Sugestão de fala: Fernando.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perfis, máquina de estados e regras de custódia: só o distribuidor designado confirma o recebimento. Mencionar que tudo é validado antes de alterar o estado, como um revert do Solidity. Sugestão de fala: Fernando.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3: 4 minutos, feito ao vivo na máquina da equipe. Os quatro passos exigidos: 1) mostrar a blockchain local em execução (make docker-up ou make start); 2) realizar uma operação pela interface e mostrar a confirmação com hash e bloco; 3) consultar o registro e mostrar a mudança de estado do lote; 4) rejeição de operação inválida ou sem permissão, usando os cenários da aba Registrar. Se a máquina falhar, usar o vídeo docs/video/demonstracao.webm. Sugestão: Juliana executa os passos 1 e 2, Fernando o passo 3 e Ana o passo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4, parte 1. 248 testes pytest, cobertura de 97%, Pylint 10.00 de 10, Bandit e pip-audit sem achados. Black Duck não foi executado por indisponibilidade da ferramenta. 48 cenários reais com resultado esperado versus obtido. Sugestão de fala: Juliana.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4, parte 2: limitações e conclusão, dentro dos 2 minutos. Ser direto sobre o que o protótipo não faz. Encerrar com os próximos passos. Sugestão de fala: Juliana.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9" y="0"/>
            <a:ext cx="46936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EcoOrigem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CFE5C5"/>
                </a:solidFill>
                <a:latin typeface="Arial"/>
              </a:rPr>
              <a:t>Rastreabilidade de produtos da bioeconomia amazônica em uma blockchain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CFE5C5"/>
                </a:solidFill>
                <a:latin typeface="Arial"/>
              </a:rPr>
              <a:t>Oficina de Desenvolvimento de Sistemas III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CFE5C5"/>
                </a:solidFill>
                <a:latin typeface="Arial"/>
              </a:rPr>
              <a:t>Ana Beatriz Maciel Nunes, Fernando Luiz da Silva Freire e Juliana Ballin Lima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148840"/>
            <a:ext cx="3703320" cy="1175092"/>
          </a:xfrm>
          <a:prstGeom prst="rect">
            <a:avLst/>
          </a:prstGeom>
        </p:spPr>
      </p:pic>
      <p:pic>
        <p:nvPicPr>
          <p:cNvPr id="7" name="Picture 6" descr="u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251960"/>
            <a:ext cx="22860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B61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17693D"/>
                </a:solidFill>
                <a:latin typeface="Arial"/>
              </a:rP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17261D"/>
                </a:solidFill>
                <a:latin typeface="Arial"/>
              </a:rPr>
              <a:t>Cada etapa da cadeia guarda o seu próprio registro.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A6B61"/>
                </a:solidFill>
                <a:latin typeface="Arial"/>
              </a:rPr>
              <a:t>O consumidor não tem como saber qual versão é a verdadeira, e quem administra o sistema pode reescrever o passado.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17693D"/>
                </a:solidFill>
                <a:latin typeface="Arial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17693D"/>
                </a:solidFill>
                <a:latin typeface="Arial"/>
              </a:rPr>
              <a:t>Registrar cada etapa do lote de forma verificável, com regras que impedem atalhos.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2588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F1F7EE"/>
          </a:solidFill>
          <a:ln w="12700">
            <a:solidFill>
              <a:srgbClr val="D2DE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4813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61D"/>
                </a:solidFill>
                <a:latin typeface="Arial"/>
              </a:rPr>
              <a:t>Produtor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B61"/>
                </a:solidFill>
                <a:latin typeface="Arial"/>
              </a:rPr>
              <a:t>registro próprio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1760219"/>
            <a:ext cx="411480" cy="0"/>
          </a:xfrm>
          <a:prstGeom prst="line">
            <a:avLst/>
          </a:prstGeom>
          <a:ln w="15875">
            <a:solidFill>
              <a:srgbClr val="5A6B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75120" y="246888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F1F7EE"/>
          </a:solidFill>
          <a:ln w="12700">
            <a:solidFill>
              <a:srgbClr val="D2DE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6243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61D"/>
                </a:solidFill>
                <a:latin typeface="Arial"/>
              </a:rPr>
              <a:t>Beneficiador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971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B61"/>
                </a:solidFill>
                <a:latin typeface="Arial"/>
              </a:rPr>
              <a:t>registro próprio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0" y="2903220"/>
            <a:ext cx="411480" cy="0"/>
          </a:xfrm>
          <a:prstGeom prst="line">
            <a:avLst/>
          </a:prstGeom>
          <a:ln w="15875">
            <a:solidFill>
              <a:srgbClr val="5A6B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75120" y="361188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F1F7EE"/>
          </a:solidFill>
          <a:ln w="12700">
            <a:solidFill>
              <a:srgbClr val="D2DE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7673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61D"/>
                </a:solidFill>
                <a:latin typeface="Arial"/>
              </a:rPr>
              <a:t>Transportador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114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B61"/>
                </a:solidFill>
                <a:latin typeface="Arial"/>
              </a:rPr>
              <a:t>registro próprio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4046220"/>
            <a:ext cx="411480" cy="0"/>
          </a:xfrm>
          <a:prstGeom prst="line">
            <a:avLst/>
          </a:prstGeom>
          <a:ln w="15875">
            <a:solidFill>
              <a:srgbClr val="5A6B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75120" y="475488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F1F7EE"/>
          </a:solidFill>
          <a:ln w="12700">
            <a:solidFill>
              <a:srgbClr val="D2DE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49103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61D"/>
                </a:solidFill>
                <a:latin typeface="Arial"/>
              </a:rPr>
              <a:t>Distribuidor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257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B61"/>
                </a:solidFill>
                <a:latin typeface="Arial"/>
              </a:rPr>
              <a:t>registro próprio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0" y="5189220"/>
            <a:ext cx="411480" cy="0"/>
          </a:xfrm>
          <a:prstGeom prst="line">
            <a:avLst/>
          </a:prstGeom>
          <a:ln w="15875">
            <a:solidFill>
              <a:srgbClr val="5A6B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55480" y="1760219"/>
            <a:ext cx="0" cy="3429001"/>
          </a:xfrm>
          <a:prstGeom prst="line">
            <a:avLst/>
          </a:prstGeom>
          <a:ln w="15875">
            <a:solidFill>
              <a:srgbClr val="5A6B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3474720"/>
            <a:ext cx="365760" cy="0"/>
          </a:xfrm>
          <a:prstGeom prst="line">
            <a:avLst/>
          </a:prstGeom>
          <a:ln w="15875">
            <a:solidFill>
              <a:srgbClr val="5A6B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21240" y="2834639"/>
            <a:ext cx="1600200" cy="1280160"/>
          </a:xfrm>
          <a:prstGeom prst="roundRect">
            <a:avLst>
              <a:gd name="adj" fmla="val 10000"/>
            </a:avLst>
          </a:prstGeom>
          <a:solidFill>
            <a:srgbClr val="0B3D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971800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8CC63F"/>
                </a:solidFill>
                <a:latin typeface="Arial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6576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Consumidor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B61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17261D"/>
                </a:solidFill>
                <a:latin typeface="Arial"/>
              </a:rPr>
              <a:t>O histórico precisa valer para todos, e ninguém pode reescrevê-lo sozinho.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4480560" cy="3383280"/>
          </a:xfrm>
          <a:prstGeom prst="roundRect">
            <a:avLst>
              <a:gd name="adj" fmla="val 5000"/>
            </a:avLst>
          </a:prstGeom>
          <a:solidFill>
            <a:srgbClr val="F1F7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5A6B61"/>
                </a:solidFill>
                <a:latin typeface="Arial"/>
              </a:rPr>
              <a:t>BANCO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54680"/>
            <a:ext cx="374903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17261D"/>
                </a:solidFill>
                <a:latin typeface="Arial"/>
              </a:rPr>
              <a:t>Quem administra pode alterar e apagar.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17261D"/>
                </a:solidFill>
                <a:latin typeface="Arial"/>
              </a:rPr>
              <a:t>As regras ficam na aplicação e podem ser contornadas.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17261D"/>
                </a:solidFill>
                <a:latin typeface="Arial"/>
              </a:rPr>
              <a:t>A auditoria depende do próprio dono do 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2331720"/>
            <a:ext cx="5760720" cy="3383280"/>
          </a:xfrm>
          <a:prstGeom prst="roundRect">
            <a:avLst>
              <a:gd name="adj" fmla="val 5000"/>
            </a:avLst>
          </a:prstGeom>
          <a:solidFill>
            <a:srgbClr val="0B3D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2651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8CC63F"/>
                </a:solidFill>
                <a:latin typeface="Arial"/>
              </a:rPr>
              <a:t>BLOCKCHAIN DO ECOORIGEM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15468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Alterar um bloco quebra o encadeamento dali em diante.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As regras são executadas pelo contrato inteligente.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Cada operação leva a assinatura digital da carteira.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B61"/>
                </a:solidFill>
                <a:latin typeface="Arial"/>
              </a:rPr>
              <a:t>Faz sentido porque há vários participantes que não confiam plenamente uns nos outros.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B61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17261D"/>
                </a:solidFill>
                <a:latin typeface="Arial"/>
              </a:rPr>
              <a:t>A carteira assina, o nó valida e o contrato decide.</a:t>
            </a:r>
          </a:p>
        </p:txBody>
      </p:sp>
      <p:pic>
        <p:nvPicPr>
          <p:cNvPr id="4" name="Picture 3" descr="arquitetura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7040880" cy="3839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828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17693D"/>
                </a:solidFill>
                <a:latin typeface="Arial"/>
              </a:rPr>
              <a:t>NAVEGADOR E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14884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7261D"/>
                </a:solidFill>
                <a:latin typeface="Arial"/>
              </a:rPr>
              <a:t>A interface nunca fala direto com o nó. O gateway assina com a carteira ativa.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2461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17693D"/>
                </a:solidFill>
                <a:latin typeface="Arial"/>
              </a:rPr>
              <a:t>NÓ DA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5661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7261D"/>
                </a:solidFill>
                <a:latin typeface="Arial"/>
              </a:rPr>
              <a:t>Confere assinatura, nonce e data, minera com prova de trabalho e grava o bloco.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663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17693D"/>
                </a:solidFill>
                <a:latin typeface="Arial"/>
              </a:rPr>
              <a:t>CONTRATO INTELIGENTE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983479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7261D"/>
                </a:solidFill>
                <a:latin typeface="Arial"/>
              </a:rPr>
              <a:t>Perfis, ordem das etapas e validação das entradas, em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B61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17261D"/>
                </a:solidFill>
                <a:latin typeface="Arial"/>
              </a:rPr>
              <a:t>O contrato só deixa o lote andar em ordem.</a:t>
            </a:r>
          </a:p>
        </p:txBody>
      </p:sp>
      <p:pic>
        <p:nvPicPr>
          <p:cNvPr id="4" name="Picture 3" descr="maquina-de-es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927080" cy="27282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617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17693D"/>
                </a:solidFill>
                <a:latin typeface="Arial"/>
              </a:rPr>
              <a:t>QUEM PODE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7261D"/>
                </a:solidFill>
                <a:latin typeface="Arial"/>
              </a:rPr>
              <a:t>Cada etapa exige um perfil: produtor, beneficiador, transportador ou distribuidor.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617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17693D"/>
                </a:solidFill>
                <a:latin typeface="Arial"/>
              </a:rPr>
              <a:t>EM QUE ORDEM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9377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7261D"/>
                </a:solidFill>
                <a:latin typeface="Arial"/>
              </a:rPr>
              <a:t>Pular ou repetir uma etapa é rejeitado. O lote finalizado não muda mais.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617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17693D"/>
                </a:solidFill>
                <a:latin typeface="Arial"/>
              </a:rPr>
              <a:t>O QUE FICA NA CADEIA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9377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7261D"/>
                </a:solidFill>
                <a:latin typeface="Arial"/>
              </a:rPr>
              <a:t>Origem, etapas, responsáveis e o hash dos documentos. Os arquivos ficam de fora.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B61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>
                <a:solidFill>
                  <a:srgbClr val="17261D"/>
                </a:solidFill>
                <a:latin typeface="Arial"/>
              </a:rPr>
              <a:t>Demonstração na blockchain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777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A6B61"/>
                </a:solidFill>
                <a:latin typeface="Arial"/>
              </a:rPr>
              <a:t>4 minutos</a:t>
            </a:r>
          </a:p>
        </p:txBody>
      </p:sp>
      <p:pic>
        <p:nvPicPr>
          <p:cNvPr id="5" name="Picture 4" descr="demo-1-pa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029200" cy="19330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8757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693D"/>
                </a:solidFill>
                <a:latin typeface="Arial"/>
              </a:rPr>
              <a:t>1  Blockchain em execução</a:t>
            </a:r>
          </a:p>
        </p:txBody>
      </p:sp>
      <p:pic>
        <p:nvPicPr>
          <p:cNvPr id="7" name="Picture 6" descr="demo-2-confirm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029200" cy="19330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348757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693D"/>
                </a:solidFill>
                <a:latin typeface="Arial"/>
              </a:rPr>
              <a:t>2  Operação confirmada no bloco</a:t>
            </a:r>
          </a:p>
        </p:txBody>
      </p:sp>
      <p:pic>
        <p:nvPicPr>
          <p:cNvPr id="9" name="Picture 8" descr="demo-3-consul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81938"/>
            <a:ext cx="5029200" cy="19330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10647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693D"/>
                </a:solidFill>
                <a:latin typeface="Arial"/>
              </a:rPr>
              <a:t>3  Registro e estado do lote</a:t>
            </a:r>
          </a:p>
        </p:txBody>
      </p:sp>
      <p:pic>
        <p:nvPicPr>
          <p:cNvPr id="11" name="Picture 10" descr="demo-4-rejeic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081938"/>
            <a:ext cx="5029200" cy="19330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610647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3261E"/>
                </a:solidFill>
                <a:latin typeface="Arial"/>
              </a:rPr>
              <a:t>4  Operação sem permissão rejeitada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B61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17261D"/>
                </a:solidFill>
                <a:latin typeface="Arial"/>
              </a:rPr>
              <a:t>Testado no que funciona e no que deve falhar.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17693D"/>
                </a:solidFill>
                <a:latin typeface="Arial"/>
              </a:rPr>
              <a:t>248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B61"/>
                </a:solidFill>
                <a:latin typeface="Arial"/>
              </a:rPr>
              <a:t>testes automatizados aprovados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17693D"/>
                </a:solidFill>
                <a:latin typeface="Arial"/>
              </a:rPr>
              <a:t>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B61"/>
                </a:solidFill>
                <a:latin typeface="Arial"/>
              </a:rPr>
              <a:t>de cobertura do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17693D"/>
                </a:solidFill>
                <a:latin typeface="Arial"/>
              </a:rPr>
              <a:t>48 de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B61"/>
                </a:solidFill>
                <a:latin typeface="Arial"/>
              </a:rPr>
              <a:t>cenários com o resultado esperado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846320" y="1783080"/>
          <a:ext cx="64922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46320" y="4892040"/>
            <a:ext cx="6492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A6B61"/>
                </a:solidFill>
                <a:latin typeface="Arial"/>
              </a:rPr>
              <a:t>Toda entrada inválida ou sem permissão foi rejeitada sem criar bloco.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A6B61"/>
                </a:solidFill>
                <a:latin typeface="Arial"/>
              </a:rPr>
              <a:t>A adulteração de um bloco foi detectada, com e sem refazer a prova de trabalho.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CFE5C5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8CC63F"/>
                </a:solidFill>
                <a:latin typeface="Arial"/>
              </a:rPr>
              <a:t>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Um único nó: a validação detecta a fraude, mas não há rede para recusá-la.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Carteiras de demonstração guardadas no servidor, sem MetaMask.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 blockchain garante o registro, não a verdade da informação na origem.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777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spc="160">
                <a:solidFill>
                  <a:srgbClr val="8CC63F"/>
                </a:solidFill>
                <a:latin typeface="Arial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34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Uma blockchain local em Python já sustenta a rastreabilidade do lote, do produtor ao consumidor.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2062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CFE5C5"/>
                </a:solidFill>
                <a:latin typeface="Arial"/>
              </a:rPr>
              <a:t>Próximos passos: vários nós com consenso, carteira no navegador e QR Code por lote.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FE5C5"/>
                </a:solidFill>
                <a:latin typeface="Arial"/>
              </a:rPr>
              <a:t>github.com/JulianaBallin/EcoOrigem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